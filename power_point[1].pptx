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57" r:id="rId4"/>
    <p:sldId id="258" r:id="rId5"/>
    <p:sldId id="269" r:id="rId6"/>
    <p:sldId id="261" r:id="rId7"/>
    <p:sldId id="262" r:id="rId8"/>
    <p:sldId id="259" r:id="rId9"/>
    <p:sldId id="260" r:id="rId10"/>
    <p:sldId id="263" r:id="rId11"/>
    <p:sldId id="264" r:id="rId12"/>
    <p:sldId id="268"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a:xfrm>
            <a:off x="2692397" y="5037663"/>
            <a:ext cx="5214635" cy="279400"/>
          </a:xfrm>
        </p:spPr>
        <p:txBody>
          <a:bodyPr/>
          <a:lstStyle/>
          <a:p>
            <a:endParaRPr lang="en-UG"/>
          </a:p>
        </p:txBody>
      </p:sp>
      <p:sp>
        <p:nvSpPr>
          <p:cNvPr id="6" name="Slide Number Placeholder 5"/>
          <p:cNvSpPr>
            <a:spLocks noGrp="1"/>
          </p:cNvSpPr>
          <p:nvPr>
            <p:ph type="sldNum" sz="quarter" idx="12"/>
          </p:nvPr>
        </p:nvSpPr>
        <p:spPr>
          <a:xfrm>
            <a:off x="8956900" y="5037663"/>
            <a:ext cx="551167" cy="279400"/>
          </a:xfrm>
        </p:spPr>
        <p:txBody>
          <a:bodyPr/>
          <a:lstStyle/>
          <a:p>
            <a:fld id="{49B2C9E9-587C-40D2-8F9B-28E6A8E2DE5D}" type="slidenum">
              <a:rPr lang="en-UG" smtClean="0"/>
              <a:t>‹#›</a:t>
            </a:fld>
            <a:endParaRPr lang="en-UG"/>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713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3136675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0222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359877-C428-4C0D-8C91-0FB633CDDE72}" type="datetimeFigureOut">
              <a:rPr lang="en-UG" smtClean="0"/>
              <a:t>30/09/2025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3441472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359877-C428-4C0D-8C91-0FB633CDDE72}" type="datetimeFigureOut">
              <a:rPr lang="en-UG" smtClean="0"/>
              <a:t>30/09/2025</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49B2C9E9-587C-40D2-8F9B-28E6A8E2DE5D}" type="slidenum">
              <a:rPr lang="en-UG" smtClean="0"/>
              <a:t>‹#›</a:t>
            </a:fld>
            <a:endParaRPr lang="en-UG"/>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249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A359877-C428-4C0D-8C91-0FB633CDDE72}" type="datetimeFigureOut">
              <a:rPr lang="en-UG" smtClean="0"/>
              <a:t>30/09/2025</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49B2C9E9-587C-40D2-8F9B-28E6A8E2DE5D}" type="slidenum">
              <a:rPr lang="en-UG" smtClean="0"/>
              <a:t>‹#›</a:t>
            </a:fld>
            <a:endParaRPr lang="en-UG"/>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4818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359877-C428-4C0D-8C91-0FB633CDDE72}" type="datetimeFigureOut">
              <a:rPr lang="en-UG" smtClean="0"/>
              <a:t>30/09/2025</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3236986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359877-C428-4C0D-8C91-0FB633CDDE72}" type="datetimeFigureOut">
              <a:rPr lang="en-UG" smtClean="0"/>
              <a:t>30/09/2025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49B2C9E9-587C-40D2-8F9B-28E6A8E2DE5D}" type="slidenum">
              <a:rPr lang="en-UG" smtClean="0"/>
              <a:t>‹#›</a:t>
            </a:fld>
            <a:endParaRPr lang="en-UG"/>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6850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359877-C428-4C0D-8C91-0FB633CDDE72}" type="datetimeFigureOut">
              <a:rPr lang="en-UG" smtClean="0"/>
              <a:t>30/09/2025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329824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359877-C428-4C0D-8C91-0FB633CDDE72}" type="datetimeFigureOut">
              <a:rPr lang="en-UG" smtClean="0"/>
              <a:t>30/09/2025</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3423540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1538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7430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spTree>
    <p:extLst>
      <p:ext uri="{BB962C8B-B14F-4D97-AF65-F5344CB8AC3E}">
        <p14:creationId xmlns:p14="http://schemas.microsoft.com/office/powerpoint/2010/main" val="130456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423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13531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3905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359877-C428-4C0D-8C91-0FB633CDDE72}" type="datetimeFigureOut">
              <a:rPr lang="en-UG" smtClean="0"/>
              <a:t>30/09/2025</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49B2C9E9-587C-40D2-8F9B-28E6A8E2DE5D}" type="slidenum">
              <a:rPr lang="en-UG" smtClean="0"/>
              <a:t>‹#›</a:t>
            </a:fld>
            <a:endParaRPr lang="en-UG"/>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1639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359877-C428-4C0D-8C91-0FB633CDDE72}" type="datetimeFigureOut">
              <a:rPr lang="en-UG" smtClean="0"/>
              <a:t>30/09/2025</a:t>
            </a:fld>
            <a:endParaRPr lang="en-UG"/>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G"/>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9B2C9E9-587C-40D2-8F9B-28E6A8E2DE5D}" type="slidenum">
              <a:rPr lang="en-UG" smtClean="0"/>
              <a:t>‹#›</a:t>
            </a:fld>
            <a:endParaRPr lang="en-UG"/>
          </a:p>
        </p:txBody>
      </p:sp>
    </p:spTree>
    <p:extLst>
      <p:ext uri="{BB962C8B-B14F-4D97-AF65-F5344CB8AC3E}">
        <p14:creationId xmlns:p14="http://schemas.microsoft.com/office/powerpoint/2010/main" val="876256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34667-BE44-0252-2305-249980554B69}"/>
              </a:ext>
            </a:extLst>
          </p:cNvPr>
          <p:cNvSpPr>
            <a:spLocks noGrp="1"/>
          </p:cNvSpPr>
          <p:nvPr>
            <p:ph type="ctrTitle"/>
          </p:nvPr>
        </p:nvSpPr>
        <p:spPr/>
        <p:txBody>
          <a:bodyPr/>
          <a:lstStyle/>
          <a:p>
            <a:r>
              <a:rPr lang="en-US" dirty="0"/>
              <a:t>MATLAB </a:t>
            </a:r>
            <a:br>
              <a:rPr lang="en-US" dirty="0"/>
            </a:br>
            <a:r>
              <a:rPr lang="en-US" dirty="0"/>
              <a:t>GROUP 8</a:t>
            </a:r>
            <a:endParaRPr lang="en-UG" dirty="0"/>
          </a:p>
        </p:txBody>
      </p:sp>
      <p:sp>
        <p:nvSpPr>
          <p:cNvPr id="3" name="Subtitle 2">
            <a:extLst>
              <a:ext uri="{FF2B5EF4-FFF2-40B4-BE49-F238E27FC236}">
                <a16:creationId xmlns:a16="http://schemas.microsoft.com/office/drawing/2014/main" id="{37BED864-94A5-C249-CB53-AB40874365F8}"/>
              </a:ext>
            </a:extLst>
          </p:cNvPr>
          <p:cNvSpPr>
            <a:spLocks noGrp="1"/>
          </p:cNvSpPr>
          <p:nvPr>
            <p:ph type="subTitle" idx="1"/>
          </p:nvPr>
        </p:nvSpPr>
        <p:spPr/>
        <p:txBody>
          <a:bodyPr/>
          <a:lstStyle/>
          <a:p>
            <a:r>
              <a:rPr lang="en-US" dirty="0"/>
              <a:t>ODES AND ITERATION METHODS</a:t>
            </a:r>
            <a:endParaRPr lang="en-UG" dirty="0"/>
          </a:p>
        </p:txBody>
      </p:sp>
    </p:spTree>
    <p:extLst>
      <p:ext uri="{BB962C8B-B14F-4D97-AF65-F5344CB8AC3E}">
        <p14:creationId xmlns:p14="http://schemas.microsoft.com/office/powerpoint/2010/main" val="15956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57-F5AA-347A-2D8E-DCDA5CF4AED8}"/>
              </a:ext>
            </a:extLst>
          </p:cNvPr>
          <p:cNvSpPr>
            <a:spLocks noGrp="1"/>
          </p:cNvSpPr>
          <p:nvPr>
            <p:ph type="title"/>
          </p:nvPr>
        </p:nvSpPr>
        <p:spPr/>
        <p:txBody>
          <a:bodyPr>
            <a:normAutofit fontScale="90000"/>
          </a:bodyPr>
          <a:lstStyle/>
          <a:p>
            <a:pPr>
              <a:lnSpc>
                <a:spcPct val="115000"/>
              </a:lnSpc>
              <a:spcAft>
                <a:spcPts val="800"/>
              </a:spcAft>
            </a:pPr>
            <a:r>
              <a:rPr lang="en-UG" sz="4400" b="1" kern="0" dirty="0">
                <a:effectLst/>
                <a:latin typeface="Times New Roman" panose="02020603050405020304" pitchFamily="18" charset="0"/>
                <a:ea typeface="Times New Roman" panose="02020603050405020304" pitchFamily="18" charset="0"/>
                <a:cs typeface="Times New Roman" panose="02020603050405020304" pitchFamily="18" charset="0"/>
              </a:rPr>
              <a:t>ITERATION METHODS</a:t>
            </a:r>
            <a:br>
              <a:rPr lang="en-UG" sz="4400" kern="100" dirty="0">
                <a:effectLst/>
                <a:latin typeface="Aptos" panose="020B0004020202020204" pitchFamily="34" charset="0"/>
                <a:ea typeface="Aptos" panose="020B0004020202020204" pitchFamily="34" charset="0"/>
                <a:cs typeface="Times New Roman" panose="02020603050405020304" pitchFamily="18" charset="0"/>
              </a:rPr>
            </a:br>
            <a:endParaRPr lang="en-UG" dirty="0"/>
          </a:p>
        </p:txBody>
      </p:sp>
      <p:sp>
        <p:nvSpPr>
          <p:cNvPr id="3" name="Content Placeholder 2">
            <a:extLst>
              <a:ext uri="{FF2B5EF4-FFF2-40B4-BE49-F238E27FC236}">
                <a16:creationId xmlns:a16="http://schemas.microsoft.com/office/drawing/2014/main" id="{EEE95B7E-1AF9-6E33-E9AA-99BC706A77EE}"/>
              </a:ext>
            </a:extLst>
          </p:cNvPr>
          <p:cNvSpPr>
            <a:spLocks noGrp="1"/>
          </p:cNvSpPr>
          <p:nvPr>
            <p:ph idx="1"/>
          </p:nvPr>
        </p:nvSpPr>
        <p:spPr/>
        <p:txBody>
          <a:bodyPr/>
          <a:lstStyle/>
          <a:p>
            <a:r>
              <a:rPr lang="en-US" dirty="0"/>
              <a:t>Secant method</a:t>
            </a:r>
          </a:p>
          <a:p>
            <a:r>
              <a:rPr lang="en-US" dirty="0"/>
              <a:t>Newton Raphson method</a:t>
            </a:r>
          </a:p>
          <a:p>
            <a:r>
              <a:rPr lang="en-US" dirty="0"/>
              <a:t>Euler method</a:t>
            </a:r>
          </a:p>
          <a:p>
            <a:r>
              <a:rPr lang="en-US" dirty="0"/>
              <a:t>Improved Euler method</a:t>
            </a:r>
          </a:p>
          <a:p>
            <a:r>
              <a:rPr lang="en-US" dirty="0"/>
              <a:t>Bisection method</a:t>
            </a:r>
          </a:p>
          <a:p>
            <a:r>
              <a:rPr lang="en-US" dirty="0"/>
              <a:t>Runge – </a:t>
            </a:r>
            <a:r>
              <a:rPr lang="en-US" dirty="0" err="1"/>
              <a:t>kutta</a:t>
            </a:r>
            <a:r>
              <a:rPr lang="en-US" dirty="0"/>
              <a:t> </a:t>
            </a:r>
          </a:p>
          <a:p>
            <a:endParaRPr lang="en-US" dirty="0"/>
          </a:p>
          <a:p>
            <a:endParaRPr lang="en-UG" dirty="0"/>
          </a:p>
        </p:txBody>
      </p:sp>
    </p:spTree>
    <p:extLst>
      <p:ext uri="{BB962C8B-B14F-4D97-AF65-F5344CB8AC3E}">
        <p14:creationId xmlns:p14="http://schemas.microsoft.com/office/powerpoint/2010/main" val="947306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C137F-D98C-B057-CAA6-5BE4E11A6B2E}"/>
              </a:ext>
            </a:extLst>
          </p:cNvPr>
          <p:cNvSpPr>
            <a:spLocks noGrp="1"/>
          </p:cNvSpPr>
          <p:nvPr>
            <p:ph type="title"/>
          </p:nvPr>
        </p:nvSpPr>
        <p:spPr/>
        <p:txBody>
          <a:bodyPr>
            <a:normAutofit fontScale="90000"/>
          </a:bodyPr>
          <a:lstStyle/>
          <a:p>
            <a:r>
              <a:rPr lang="en-UG" sz="4400" b="1" kern="0" dirty="0">
                <a:effectLst/>
                <a:latin typeface="Times New Roman" panose="02020603050405020304" pitchFamily="18" charset="0"/>
                <a:ea typeface="Times New Roman" panose="02020603050405020304" pitchFamily="18" charset="0"/>
                <a:cs typeface="Times New Roman" panose="02020603050405020304" pitchFamily="18" charset="0"/>
              </a:rPr>
              <a:t>WHAT THE CODE DOES</a:t>
            </a:r>
            <a:br>
              <a:rPr lang="en-UG" sz="4400" kern="100" dirty="0">
                <a:effectLst/>
                <a:latin typeface="Aptos" panose="020B0004020202020204" pitchFamily="34" charset="0"/>
                <a:ea typeface="Aptos" panose="020B0004020202020204" pitchFamily="34" charset="0"/>
                <a:cs typeface="Times New Roman" panose="02020603050405020304" pitchFamily="18" charset="0"/>
              </a:rPr>
            </a:br>
            <a:endParaRPr lang="en-UG" dirty="0"/>
          </a:p>
        </p:txBody>
      </p:sp>
      <p:sp>
        <p:nvSpPr>
          <p:cNvPr id="3" name="Content Placeholder 2">
            <a:extLst>
              <a:ext uri="{FF2B5EF4-FFF2-40B4-BE49-F238E27FC236}">
                <a16:creationId xmlns:a16="http://schemas.microsoft.com/office/drawing/2014/main" id="{76D42D8B-96E4-DB47-9DB3-06C6621588C5}"/>
              </a:ext>
            </a:extLst>
          </p:cNvPr>
          <p:cNvSpPr>
            <a:spLocks noGrp="1"/>
          </p:cNvSpPr>
          <p:nvPr>
            <p:ph idx="1"/>
          </p:nvPr>
        </p:nvSpPr>
        <p:spPr>
          <a:xfrm>
            <a:off x="838200" y="1690688"/>
            <a:ext cx="10515600" cy="4486275"/>
          </a:xfrm>
        </p:spPr>
        <p:txBody>
          <a:bodyPr/>
          <a:lstStyle/>
          <a:p>
            <a:r>
              <a:rPr lang="en-UG" sz="3200" dirty="0">
                <a:effectLst/>
                <a:latin typeface="Symbol" panose="05050102010706020507" pitchFamily="18" charset="2"/>
                <a:ea typeface="Times New Roman" panose="02020603050405020304" pitchFamily="18" charset="0"/>
              </a:rPr>
              <a:t>·</a:t>
            </a:r>
            <a:r>
              <a:rPr lang="en-UG" sz="3200" dirty="0">
                <a:effectLst/>
                <a:latin typeface="Times New Roman" panose="02020603050405020304" pitchFamily="18" charset="0"/>
                <a:ea typeface="Times New Roman" panose="02020603050405020304" pitchFamily="18" charset="0"/>
              </a:rPr>
              <a:t> Models </a:t>
            </a:r>
            <a:r>
              <a:rPr lang="en-UG" sz="3200" b="1" dirty="0">
                <a:effectLst/>
                <a:latin typeface="Times New Roman" panose="02020603050405020304" pitchFamily="18" charset="0"/>
                <a:ea typeface="Times New Roman" panose="02020603050405020304" pitchFamily="18" charset="0"/>
              </a:rPr>
              <a:t>projectile motion height function</a:t>
            </a:r>
            <a:r>
              <a:rPr lang="en-UG" sz="3200" dirty="0">
                <a:effectLst/>
                <a:latin typeface="Times New Roman" panose="02020603050405020304" pitchFamily="18" charset="0"/>
                <a:ea typeface="Times New Roman" panose="02020603050405020304" pitchFamily="18" charset="0"/>
              </a:rPr>
              <a:t>.</a:t>
            </a:r>
          </a:p>
          <a:p>
            <a:r>
              <a:rPr lang="en-UG" sz="3200" dirty="0">
                <a:effectLst/>
                <a:latin typeface="Symbol" panose="05050102010706020507" pitchFamily="18" charset="2"/>
                <a:ea typeface="Times New Roman" panose="02020603050405020304" pitchFamily="18" charset="0"/>
              </a:rPr>
              <a:t>·</a:t>
            </a:r>
            <a:r>
              <a:rPr lang="en-UG" sz="3200" dirty="0">
                <a:effectLst/>
                <a:latin typeface="Times New Roman" panose="02020603050405020304" pitchFamily="18" charset="0"/>
                <a:ea typeface="Times New Roman" panose="02020603050405020304" pitchFamily="18" charset="0"/>
              </a:rPr>
              <a:t> Finds the </a:t>
            </a:r>
            <a:r>
              <a:rPr lang="en-UG" sz="3200" b="1" dirty="0">
                <a:effectLst/>
                <a:latin typeface="Times New Roman" panose="02020603050405020304" pitchFamily="18" charset="0"/>
                <a:ea typeface="Times New Roman" panose="02020603050405020304" pitchFamily="18" charset="0"/>
              </a:rPr>
              <a:t>impact time (non-trivial root)</a:t>
            </a:r>
            <a:r>
              <a:rPr lang="en-UG" sz="3200" dirty="0">
                <a:effectLst/>
                <a:latin typeface="Times New Roman" panose="02020603050405020304" pitchFamily="18" charset="0"/>
                <a:ea typeface="Times New Roman" panose="02020603050405020304" pitchFamily="18" charset="0"/>
              </a:rPr>
              <a:t> using:</a:t>
            </a:r>
          </a:p>
          <a:p>
            <a:pPr marL="342900" lvl="0" indent="-342900">
              <a:buSzPts val="1000"/>
              <a:buFont typeface="Symbol" panose="05050102010706020507" pitchFamily="18" charset="2"/>
              <a:buChar char=""/>
              <a:tabLst>
                <a:tab pos="457200" algn="l"/>
              </a:tabLst>
            </a:pPr>
            <a:r>
              <a:rPr lang="en-UG" sz="3200" dirty="0">
                <a:effectLst/>
                <a:latin typeface="Times New Roman" panose="02020603050405020304" pitchFamily="18" charset="0"/>
                <a:ea typeface="Times New Roman" panose="02020603050405020304" pitchFamily="18" charset="0"/>
              </a:rPr>
              <a:t>Bisection</a:t>
            </a:r>
          </a:p>
          <a:p>
            <a:pPr marL="342900" lvl="0" indent="-342900">
              <a:buSzPts val="1000"/>
              <a:buFont typeface="Symbol" panose="05050102010706020507" pitchFamily="18" charset="2"/>
              <a:buChar char=""/>
              <a:tabLst>
                <a:tab pos="457200" algn="l"/>
              </a:tabLst>
            </a:pPr>
            <a:r>
              <a:rPr lang="en-UG" sz="3200" dirty="0">
                <a:effectLst/>
                <a:latin typeface="Times New Roman" panose="02020603050405020304" pitchFamily="18" charset="0"/>
                <a:ea typeface="Times New Roman" panose="02020603050405020304" pitchFamily="18" charset="0"/>
              </a:rPr>
              <a:t>False Position</a:t>
            </a:r>
          </a:p>
          <a:p>
            <a:pPr marL="342900" lvl="0" indent="-342900">
              <a:buSzPts val="1000"/>
              <a:buFont typeface="Symbol" panose="05050102010706020507" pitchFamily="18" charset="2"/>
              <a:buChar char=""/>
              <a:tabLst>
                <a:tab pos="457200" algn="l"/>
              </a:tabLst>
            </a:pPr>
            <a:r>
              <a:rPr lang="en-UG" sz="3200" dirty="0">
                <a:effectLst/>
                <a:latin typeface="Times New Roman" panose="02020603050405020304" pitchFamily="18" charset="0"/>
                <a:ea typeface="Times New Roman" panose="02020603050405020304" pitchFamily="18" charset="0"/>
              </a:rPr>
              <a:t>Newton-Raphson</a:t>
            </a:r>
          </a:p>
          <a:p>
            <a:pPr marL="342900" lvl="0" indent="-342900">
              <a:buSzPts val="1000"/>
              <a:buFont typeface="Symbol" panose="05050102010706020507" pitchFamily="18" charset="2"/>
              <a:buChar char=""/>
              <a:tabLst>
                <a:tab pos="457200" algn="l"/>
              </a:tabLst>
            </a:pPr>
            <a:r>
              <a:rPr lang="en-UG" sz="3200" dirty="0">
                <a:effectLst/>
                <a:latin typeface="Times New Roman" panose="02020603050405020304" pitchFamily="18" charset="0"/>
                <a:ea typeface="Times New Roman" panose="02020603050405020304" pitchFamily="18" charset="0"/>
              </a:rPr>
              <a:t>Secant</a:t>
            </a:r>
          </a:p>
          <a:p>
            <a:endParaRPr lang="en-UG" dirty="0"/>
          </a:p>
        </p:txBody>
      </p:sp>
    </p:spTree>
    <p:extLst>
      <p:ext uri="{BB962C8B-B14F-4D97-AF65-F5344CB8AC3E}">
        <p14:creationId xmlns:p14="http://schemas.microsoft.com/office/powerpoint/2010/main" val="604265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65AFC-95D1-EE2B-4117-D7E88600A345}"/>
              </a:ext>
            </a:extLst>
          </p:cNvPr>
          <p:cNvSpPr>
            <a:spLocks noGrp="1"/>
          </p:cNvSpPr>
          <p:nvPr>
            <p:ph idx="1"/>
          </p:nvPr>
        </p:nvSpPr>
        <p:spPr>
          <a:xfrm>
            <a:off x="838200" y="568411"/>
            <a:ext cx="10515600" cy="5608552"/>
          </a:xfrm>
        </p:spPr>
        <p:txBody>
          <a:bodyPr/>
          <a:lstStyle/>
          <a:p>
            <a:pPr marL="0" indent="0">
              <a:buNone/>
            </a:pPr>
            <a:r>
              <a:rPr lang="en-UG" sz="3600" dirty="0">
                <a:effectLst/>
                <a:latin typeface="Symbol" panose="05050102010706020507" pitchFamily="18" charset="2"/>
                <a:ea typeface="Times New Roman" panose="02020603050405020304" pitchFamily="18" charset="0"/>
              </a:rPr>
              <a:t>·</a:t>
            </a:r>
            <a:r>
              <a:rPr lang="en-UG" sz="3600" dirty="0">
                <a:effectLst/>
                <a:latin typeface="Times New Roman" panose="02020603050405020304" pitchFamily="18" charset="0"/>
                <a:ea typeface="Times New Roman" panose="02020603050405020304" pitchFamily="18" charset="0"/>
              </a:rPr>
              <a:t> Compares against the </a:t>
            </a:r>
            <a:r>
              <a:rPr lang="en-UG" sz="3600" b="1" dirty="0">
                <a:effectLst/>
                <a:latin typeface="Times New Roman" panose="02020603050405020304" pitchFamily="18" charset="0"/>
                <a:ea typeface="Times New Roman" panose="02020603050405020304" pitchFamily="18" charset="0"/>
              </a:rPr>
              <a:t>exact analytical solution</a:t>
            </a:r>
            <a:r>
              <a:rPr lang="en-UG" sz="3600" dirty="0">
                <a:effectLst/>
                <a:latin typeface="Times New Roman" panose="02020603050405020304" pitchFamily="18" charset="0"/>
                <a:ea typeface="Times New Roman" panose="02020603050405020304" pitchFamily="18" charset="0"/>
              </a:rPr>
              <a:t>.</a:t>
            </a:r>
          </a:p>
          <a:p>
            <a:pPr marL="0" indent="0">
              <a:buNone/>
            </a:pPr>
            <a:r>
              <a:rPr lang="en-UG" sz="3600" dirty="0">
                <a:effectLst/>
                <a:latin typeface="Symbol" panose="05050102010706020507" pitchFamily="18" charset="2"/>
                <a:ea typeface="Times New Roman" panose="02020603050405020304" pitchFamily="18" charset="0"/>
              </a:rPr>
              <a:t>·</a:t>
            </a:r>
            <a:r>
              <a:rPr lang="en-UG" sz="3600" dirty="0">
                <a:effectLst/>
                <a:latin typeface="Times New Roman" panose="02020603050405020304" pitchFamily="18" charset="0"/>
                <a:ea typeface="Times New Roman" panose="02020603050405020304" pitchFamily="18" charset="0"/>
              </a:rPr>
              <a:t> Plots:</a:t>
            </a:r>
          </a:p>
          <a:p>
            <a:pPr marL="342900" lvl="0" indent="-342900">
              <a:buSzPts val="1000"/>
              <a:buFont typeface="Symbol" panose="05050102010706020507" pitchFamily="18" charset="2"/>
              <a:buChar char=""/>
              <a:tabLst>
                <a:tab pos="457200" algn="l"/>
              </a:tabLst>
            </a:pPr>
            <a:r>
              <a:rPr lang="en-UG" sz="3600" dirty="0">
                <a:effectLst/>
                <a:latin typeface="Times New Roman" panose="02020603050405020304" pitchFamily="18" charset="0"/>
                <a:ea typeface="Times New Roman" panose="02020603050405020304" pitchFamily="18" charset="0"/>
              </a:rPr>
              <a:t>Function with roots marked</a:t>
            </a:r>
          </a:p>
          <a:p>
            <a:pPr marL="342900" lvl="0" indent="-342900">
              <a:buSzPts val="1000"/>
              <a:buFont typeface="Symbol" panose="05050102010706020507" pitchFamily="18" charset="2"/>
              <a:buChar char=""/>
              <a:tabLst>
                <a:tab pos="457200" algn="l"/>
              </a:tabLst>
            </a:pPr>
            <a:r>
              <a:rPr lang="en-UG" sz="3600" dirty="0">
                <a:effectLst/>
                <a:latin typeface="Times New Roman" panose="02020603050405020304" pitchFamily="18" charset="0"/>
                <a:ea typeface="Times New Roman" panose="02020603050405020304" pitchFamily="18" charset="0"/>
              </a:rPr>
              <a:t>Bar chart of runtimes</a:t>
            </a:r>
          </a:p>
          <a:p>
            <a:pPr marL="0" indent="0">
              <a:buNone/>
            </a:pPr>
            <a:r>
              <a:rPr lang="en-UG" sz="3600" dirty="0">
                <a:effectLst/>
                <a:latin typeface="Symbol" panose="05050102010706020507" pitchFamily="18" charset="2"/>
                <a:ea typeface="Times New Roman" panose="02020603050405020304" pitchFamily="18" charset="0"/>
              </a:rPr>
              <a:t>·</a:t>
            </a:r>
            <a:r>
              <a:rPr lang="en-UG" sz="3600" dirty="0">
                <a:effectLst/>
                <a:latin typeface="Times New Roman" panose="02020603050405020304" pitchFamily="18" charset="0"/>
                <a:ea typeface="Times New Roman" panose="02020603050405020304" pitchFamily="18" charset="0"/>
              </a:rPr>
              <a:t> Displays </a:t>
            </a:r>
            <a:r>
              <a:rPr lang="en-UG" sz="3600" b="1" dirty="0">
                <a:effectLst/>
                <a:latin typeface="Times New Roman" panose="02020603050405020304" pitchFamily="18" charset="0"/>
                <a:ea typeface="Times New Roman" panose="02020603050405020304" pitchFamily="18" charset="0"/>
              </a:rPr>
              <a:t>error values</a:t>
            </a:r>
            <a:r>
              <a:rPr lang="en-UG" sz="3600" dirty="0">
                <a:effectLst/>
                <a:latin typeface="Times New Roman" panose="02020603050405020304" pitchFamily="18" charset="0"/>
                <a:ea typeface="Times New Roman" panose="02020603050405020304" pitchFamily="18" charset="0"/>
              </a:rPr>
              <a:t> and </a:t>
            </a:r>
            <a:r>
              <a:rPr lang="en-UG" sz="3600" b="1" dirty="0">
                <a:effectLst/>
                <a:latin typeface="Times New Roman" panose="02020603050405020304" pitchFamily="18" charset="0"/>
                <a:ea typeface="Times New Roman" panose="02020603050405020304" pitchFamily="18" charset="0"/>
              </a:rPr>
              <a:t>computation times</a:t>
            </a:r>
            <a:r>
              <a:rPr lang="en-UG" sz="3600" dirty="0">
                <a:effectLst/>
                <a:latin typeface="Times New Roman" panose="02020603050405020304" pitchFamily="18" charset="0"/>
                <a:ea typeface="Times New Roman" panose="02020603050405020304" pitchFamily="18" charset="0"/>
              </a:rPr>
              <a:t> in the command window</a:t>
            </a:r>
          </a:p>
          <a:p>
            <a:pPr>
              <a:lnSpc>
                <a:spcPct val="115000"/>
              </a:lnSpc>
              <a:spcAft>
                <a:spcPts val="800"/>
              </a:spcAft>
            </a:pPr>
            <a:r>
              <a:rPr lang="en-UG" sz="2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Tree>
    <p:extLst>
      <p:ext uri="{BB962C8B-B14F-4D97-AF65-F5344CB8AC3E}">
        <p14:creationId xmlns:p14="http://schemas.microsoft.com/office/powerpoint/2010/main" val="164408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A41F6-A819-0A9A-DCE8-C67233C1D6DA}"/>
              </a:ext>
            </a:extLst>
          </p:cNvPr>
          <p:cNvSpPr>
            <a:spLocks noGrp="1"/>
          </p:cNvSpPr>
          <p:nvPr>
            <p:ph type="title"/>
          </p:nvPr>
        </p:nvSpPr>
        <p:spPr>
          <a:xfrm>
            <a:off x="838200" y="365126"/>
            <a:ext cx="10515600" cy="765406"/>
          </a:xfrm>
        </p:spPr>
        <p:txBody>
          <a:bodyPr/>
          <a:lstStyle/>
          <a:p>
            <a:r>
              <a:rPr lang="en-US" dirty="0"/>
              <a:t>FLOW CHART</a:t>
            </a:r>
            <a:endParaRPr lang="en-UG" dirty="0"/>
          </a:p>
        </p:txBody>
      </p:sp>
      <p:pic>
        <p:nvPicPr>
          <p:cNvPr id="5" name="Content Placeholder 4">
            <a:extLst>
              <a:ext uri="{FF2B5EF4-FFF2-40B4-BE49-F238E27FC236}">
                <a16:creationId xmlns:a16="http://schemas.microsoft.com/office/drawing/2014/main" id="{89CB58C7-E366-623E-7F7C-0801A95F34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8059" y="1825625"/>
            <a:ext cx="6167552" cy="4351338"/>
          </a:xfrm>
        </p:spPr>
      </p:pic>
    </p:spTree>
    <p:extLst>
      <p:ext uri="{BB962C8B-B14F-4D97-AF65-F5344CB8AC3E}">
        <p14:creationId xmlns:p14="http://schemas.microsoft.com/office/powerpoint/2010/main" val="51659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8AB2-AABA-ED8B-7407-CC0EF9B4F422}"/>
              </a:ext>
            </a:extLst>
          </p:cNvPr>
          <p:cNvSpPr>
            <a:spLocks noGrp="1"/>
          </p:cNvSpPr>
          <p:nvPr>
            <p:ph type="title"/>
          </p:nvPr>
        </p:nvSpPr>
        <p:spPr>
          <a:xfrm>
            <a:off x="838200" y="365126"/>
            <a:ext cx="10515600" cy="1092972"/>
          </a:xfrm>
        </p:spPr>
        <p:txBody>
          <a:bodyPr/>
          <a:lstStyle/>
          <a:p>
            <a:r>
              <a:rPr lang="en-US" dirty="0"/>
              <a:t>Real-Life Example Problem:</a:t>
            </a:r>
            <a:endParaRPr lang="en-UG" dirty="0"/>
          </a:p>
        </p:txBody>
      </p:sp>
      <p:sp>
        <p:nvSpPr>
          <p:cNvPr id="3" name="Content Placeholder 2">
            <a:extLst>
              <a:ext uri="{FF2B5EF4-FFF2-40B4-BE49-F238E27FC236}">
                <a16:creationId xmlns:a16="http://schemas.microsoft.com/office/drawing/2014/main" id="{B7E86E1E-F0C3-653D-A11C-56FCD4850510}"/>
              </a:ext>
            </a:extLst>
          </p:cNvPr>
          <p:cNvSpPr>
            <a:spLocks noGrp="1"/>
          </p:cNvSpPr>
          <p:nvPr>
            <p:ph idx="1"/>
          </p:nvPr>
        </p:nvSpPr>
        <p:spPr/>
        <p:txBody>
          <a:bodyPr/>
          <a:lstStyle/>
          <a:p>
            <a:r>
              <a:rPr lang="en-US" dirty="0"/>
              <a:t>Projectile Motion A ball is thrown upward with velocity 𝑣0=20 m/S. Its height is:</a:t>
            </a:r>
            <a:endParaRPr lang="en-UG" dirty="0"/>
          </a:p>
        </p:txBody>
      </p:sp>
    </p:spTree>
    <p:extLst>
      <p:ext uri="{BB962C8B-B14F-4D97-AF65-F5344CB8AC3E}">
        <p14:creationId xmlns:p14="http://schemas.microsoft.com/office/powerpoint/2010/main" val="2102839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7FE7-964E-C6E4-7AA3-5DA31EF38FB4}"/>
              </a:ext>
            </a:extLst>
          </p:cNvPr>
          <p:cNvSpPr>
            <a:spLocks noGrp="1"/>
          </p:cNvSpPr>
          <p:nvPr>
            <p:ph type="title"/>
          </p:nvPr>
        </p:nvSpPr>
        <p:spPr>
          <a:xfrm>
            <a:off x="838200" y="365125"/>
            <a:ext cx="10515600" cy="746983"/>
          </a:xfrm>
        </p:spPr>
        <p:txBody>
          <a:bodyPr>
            <a:normAutofit fontScale="90000"/>
          </a:bodyPr>
          <a:lstStyle/>
          <a:p>
            <a:r>
              <a:rPr lang="en-US" dirty="0"/>
              <a:t>FLOW CHART OF NRM</a:t>
            </a:r>
            <a:endParaRPr lang="en-UG" dirty="0"/>
          </a:p>
        </p:txBody>
      </p:sp>
      <p:pic>
        <p:nvPicPr>
          <p:cNvPr id="7" name="Content Placeholder 6">
            <a:extLst>
              <a:ext uri="{FF2B5EF4-FFF2-40B4-BE49-F238E27FC236}">
                <a16:creationId xmlns:a16="http://schemas.microsoft.com/office/drawing/2014/main" id="{F0496190-98EA-15FC-D694-736F4A4E5ACC}"/>
              </a:ext>
            </a:extLst>
          </p:cNvPr>
          <p:cNvPicPr>
            <a:picLocks noGrp="1" noChangeAspect="1"/>
          </p:cNvPicPr>
          <p:nvPr>
            <p:ph idx="1"/>
          </p:nvPr>
        </p:nvPicPr>
        <p:blipFill>
          <a:blip r:embed="rId2"/>
          <a:stretch>
            <a:fillRect/>
          </a:stretch>
        </p:blipFill>
        <p:spPr bwMode="auto">
          <a:xfrm>
            <a:off x="1606377" y="1359243"/>
            <a:ext cx="8390239" cy="5498757"/>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Generated image">
            <a:extLst>
              <a:ext uri="{FF2B5EF4-FFF2-40B4-BE49-F238E27FC236}">
                <a16:creationId xmlns:a16="http://schemas.microsoft.com/office/drawing/2014/main" id="{3FFEDA88-9F5D-A250-8AE4-6C456AFE56B7}"/>
              </a:ext>
            </a:extLst>
          </p:cNvPr>
          <p:cNvSpPr>
            <a:spLocks noChangeAspect="1" noChangeArrowheads="1"/>
          </p:cNvSpPr>
          <p:nvPr/>
        </p:nvSpPr>
        <p:spPr bwMode="auto">
          <a:xfrm>
            <a:off x="2755557" y="3276599"/>
            <a:ext cx="3492843" cy="34928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G"/>
          </a:p>
        </p:txBody>
      </p:sp>
    </p:spTree>
    <p:extLst>
      <p:ext uri="{BB962C8B-B14F-4D97-AF65-F5344CB8AC3E}">
        <p14:creationId xmlns:p14="http://schemas.microsoft.com/office/powerpoint/2010/main" val="87154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8503253-9AD6-FFAB-CE8F-93E6AE8601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4973" y="605481"/>
            <a:ext cx="10206681" cy="5571482"/>
          </a:xfrm>
        </p:spPr>
      </p:pic>
    </p:spTree>
    <p:extLst>
      <p:ext uri="{BB962C8B-B14F-4D97-AF65-F5344CB8AC3E}">
        <p14:creationId xmlns:p14="http://schemas.microsoft.com/office/powerpoint/2010/main" val="1914181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257D-1C29-2263-8849-03BFF028EC54}"/>
              </a:ext>
            </a:extLst>
          </p:cNvPr>
          <p:cNvSpPr>
            <a:spLocks noGrp="1"/>
          </p:cNvSpPr>
          <p:nvPr>
            <p:ph type="title"/>
          </p:nvPr>
        </p:nvSpPr>
        <p:spPr/>
        <p:txBody>
          <a:bodyPr>
            <a:normAutofit fontScale="90000"/>
          </a:bodyPr>
          <a:lstStyle/>
          <a:p>
            <a:r>
              <a:rPr lang="en-US" dirty="0"/>
              <a:t>COMPARISON OF THE METHODS</a:t>
            </a:r>
            <a:br>
              <a:rPr lang="en-US" dirty="0"/>
            </a:br>
            <a:endParaRPr lang="en-UG" dirty="0"/>
          </a:p>
        </p:txBody>
      </p:sp>
      <p:pic>
        <p:nvPicPr>
          <p:cNvPr id="11" name="Content Placeholder 10">
            <a:extLst>
              <a:ext uri="{FF2B5EF4-FFF2-40B4-BE49-F238E27FC236}">
                <a16:creationId xmlns:a16="http://schemas.microsoft.com/office/drawing/2014/main" id="{4E9E953C-27E7-CC0A-E548-234207053FA5}"/>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1411" t="22820" r="15080" b="9776"/>
          <a:stretch/>
        </p:blipFill>
        <p:spPr bwMode="auto">
          <a:xfrm>
            <a:off x="2162432" y="1544596"/>
            <a:ext cx="7562336" cy="53134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300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78ECE-15C3-9484-F407-F7A9AD102C85}"/>
              </a:ext>
            </a:extLst>
          </p:cNvPr>
          <p:cNvSpPr>
            <a:spLocks noGrp="1"/>
          </p:cNvSpPr>
          <p:nvPr>
            <p:ph type="title"/>
          </p:nvPr>
        </p:nvSpPr>
        <p:spPr/>
        <p:txBody>
          <a:bodyPr/>
          <a:lstStyle/>
          <a:p>
            <a:r>
              <a:rPr lang="en-US" dirty="0"/>
              <a:t>ODES</a:t>
            </a:r>
            <a:endParaRPr lang="en-UG" dirty="0"/>
          </a:p>
        </p:txBody>
      </p:sp>
      <p:sp>
        <p:nvSpPr>
          <p:cNvPr id="3" name="Content Placeholder 2">
            <a:extLst>
              <a:ext uri="{FF2B5EF4-FFF2-40B4-BE49-F238E27FC236}">
                <a16:creationId xmlns:a16="http://schemas.microsoft.com/office/drawing/2014/main" id="{974E11C7-1612-9EC4-07F7-550BAF56AFB1}"/>
              </a:ext>
            </a:extLst>
          </p:cNvPr>
          <p:cNvSpPr>
            <a:spLocks noGrp="1"/>
          </p:cNvSpPr>
          <p:nvPr>
            <p:ph idx="1"/>
          </p:nvPr>
        </p:nvSpPr>
        <p:spPr/>
        <p:txBody>
          <a:bodyPr>
            <a:normAutofit lnSpcReduction="10000"/>
          </a:bodyPr>
          <a:lstStyle/>
          <a:p>
            <a:pPr>
              <a:lnSpc>
                <a:spcPct val="115000"/>
              </a:lnSpc>
              <a:spcAft>
                <a:spcPts val="800"/>
              </a:spcAft>
            </a:pPr>
            <a:r>
              <a:rPr lang="en-UG" sz="2800" kern="0" dirty="0">
                <a:effectLst/>
                <a:latin typeface="Times New Roman" panose="02020603050405020304" pitchFamily="18" charset="0"/>
                <a:ea typeface="Times New Roman" panose="02020603050405020304" pitchFamily="18" charset="0"/>
                <a:cs typeface="Times New Roman" panose="02020603050405020304" pitchFamily="18" charset="0"/>
              </a:rPr>
              <a:t>We will solve  with:</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G" sz="2800" b="1" kern="0" dirty="0">
                <a:effectLst/>
                <a:latin typeface="Times New Roman" panose="02020603050405020304" pitchFamily="18" charset="0"/>
                <a:ea typeface="Times New Roman" panose="02020603050405020304" pitchFamily="18" charset="0"/>
                <a:cs typeface="Times New Roman" panose="02020603050405020304" pitchFamily="18" charset="0"/>
              </a:rPr>
              <a:t>Euler’s Method</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G"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Improved Euler (</a:t>
            </a:r>
            <a:r>
              <a:rPr lang="en-UG"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Heun’s</a:t>
            </a:r>
            <a:r>
              <a:rPr lang="en-UG"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Method)</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G" sz="2800" b="1" kern="0" dirty="0">
                <a:effectLst/>
                <a:latin typeface="Times New Roman" panose="02020603050405020304" pitchFamily="18" charset="0"/>
                <a:ea typeface="Times New Roman" panose="02020603050405020304" pitchFamily="18" charset="0"/>
                <a:cs typeface="Times New Roman" panose="02020603050405020304" pitchFamily="18" charset="0"/>
              </a:rPr>
              <a:t>Runge-</a:t>
            </a:r>
            <a:r>
              <a:rPr lang="en-UG"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Kutta</a:t>
            </a:r>
            <a:r>
              <a:rPr lang="en-UG"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4 (RK4)</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G" sz="2800" kern="0" dirty="0">
                <a:effectLst/>
                <a:latin typeface="Times New Roman" panose="02020603050405020304" pitchFamily="18" charset="0"/>
                <a:ea typeface="Times New Roman" panose="02020603050405020304" pitchFamily="18" charset="0"/>
                <a:cs typeface="Times New Roman" panose="02020603050405020304" pitchFamily="18" charset="0"/>
              </a:rPr>
              <a:t>(Optional) Adams-</a:t>
            </a:r>
            <a:r>
              <a:rPr lang="en-UG" sz="2800" kern="0" dirty="0" err="1">
                <a:effectLst/>
                <a:latin typeface="Times New Roman" panose="02020603050405020304" pitchFamily="18" charset="0"/>
                <a:ea typeface="Times New Roman" panose="02020603050405020304" pitchFamily="18" charset="0"/>
                <a:cs typeface="Times New Roman" panose="02020603050405020304" pitchFamily="18" charset="0"/>
              </a:rPr>
              <a:t>Bashforth</a:t>
            </a:r>
            <a:r>
              <a:rPr lang="en-UG" sz="2800" kern="0" dirty="0">
                <a:effectLst/>
                <a:latin typeface="Times New Roman" panose="02020603050405020304" pitchFamily="18" charset="0"/>
                <a:ea typeface="Times New Roman" panose="02020603050405020304" pitchFamily="18" charset="0"/>
                <a:cs typeface="Times New Roman" panose="02020603050405020304" pitchFamily="18" charset="0"/>
              </a:rPr>
              <a:t> or ode45 (MATLAB inbuilt)</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G" dirty="0"/>
          </a:p>
        </p:txBody>
      </p:sp>
    </p:spTree>
    <p:extLst>
      <p:ext uri="{BB962C8B-B14F-4D97-AF65-F5344CB8AC3E}">
        <p14:creationId xmlns:p14="http://schemas.microsoft.com/office/powerpoint/2010/main" val="3679842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28BCB-4143-22E0-849F-4DFC8D41AACA}"/>
              </a:ext>
            </a:extLst>
          </p:cNvPr>
          <p:cNvSpPr>
            <a:spLocks noGrp="1"/>
          </p:cNvSpPr>
          <p:nvPr>
            <p:ph idx="1"/>
          </p:nvPr>
        </p:nvSpPr>
        <p:spPr>
          <a:xfrm>
            <a:off x="838200" y="432486"/>
            <a:ext cx="10515600" cy="5744477"/>
          </a:xfrm>
        </p:spPr>
        <p:txBody>
          <a:bodyPr/>
          <a:lstStyle/>
          <a:p>
            <a:pPr>
              <a:lnSpc>
                <a:spcPct val="115000"/>
              </a:lnSpc>
              <a:spcAft>
                <a:spcPts val="800"/>
              </a:spcAft>
            </a:pPr>
            <a:r>
              <a:rPr lang="en-UG" b="1" kern="0" dirty="0">
                <a:effectLst/>
                <a:latin typeface="Times New Roman" panose="02020603050405020304" pitchFamily="18" charset="0"/>
                <a:ea typeface="Times New Roman" panose="02020603050405020304" pitchFamily="18" charset="0"/>
                <a:cs typeface="Times New Roman" panose="02020603050405020304" pitchFamily="18" charset="0"/>
              </a:rPr>
              <a:t>Pseudocode (Euler’s Method)</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Algorithm Euler(f, t0, y0, h, N)</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1. Set t = t0, y = y0</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2. For </a:t>
            </a:r>
            <a:r>
              <a:rPr lang="en-UG" kern="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=1:N</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y(i+1) = y(</a:t>
            </a:r>
            <a:r>
              <a:rPr lang="en-UG" kern="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 h * f(t(</a:t>
            </a:r>
            <a:r>
              <a:rPr lang="en-UG" kern="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y(</a:t>
            </a:r>
            <a:r>
              <a:rPr lang="en-UG" kern="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t(i+1) = t(</a:t>
            </a:r>
            <a:r>
              <a:rPr lang="en-UG" kern="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 + h</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G" kern="0" dirty="0">
                <a:effectLst/>
                <a:latin typeface="Times New Roman" panose="02020603050405020304" pitchFamily="18" charset="0"/>
                <a:ea typeface="Times New Roman" panose="02020603050405020304" pitchFamily="18" charset="0"/>
                <a:cs typeface="Times New Roman" panose="02020603050405020304" pitchFamily="18" charset="0"/>
              </a:rPr>
              <a:t>3. Return( t, y)</a:t>
            </a:r>
            <a:endParaRPr lang="en-UG"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G" dirty="0"/>
          </a:p>
        </p:txBody>
      </p:sp>
    </p:spTree>
    <p:extLst>
      <p:ext uri="{BB962C8B-B14F-4D97-AF65-F5344CB8AC3E}">
        <p14:creationId xmlns:p14="http://schemas.microsoft.com/office/powerpoint/2010/main" val="2037092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F5E3-0C28-F648-4C94-7E35174BAA25}"/>
              </a:ext>
            </a:extLst>
          </p:cNvPr>
          <p:cNvSpPr>
            <a:spLocks noGrp="1"/>
          </p:cNvSpPr>
          <p:nvPr>
            <p:ph type="title"/>
          </p:nvPr>
        </p:nvSpPr>
        <p:spPr>
          <a:xfrm>
            <a:off x="838200" y="365125"/>
            <a:ext cx="10515600" cy="848533"/>
          </a:xfrm>
        </p:spPr>
        <p:txBody>
          <a:bodyPr/>
          <a:lstStyle/>
          <a:p>
            <a:r>
              <a:rPr lang="en-US" dirty="0"/>
              <a:t>FLOW CHART</a:t>
            </a:r>
            <a:endParaRPr lang="en-UG" dirty="0"/>
          </a:p>
        </p:txBody>
      </p:sp>
      <p:pic>
        <p:nvPicPr>
          <p:cNvPr id="5" name="Content Placeholder 4">
            <a:extLst>
              <a:ext uri="{FF2B5EF4-FFF2-40B4-BE49-F238E27FC236}">
                <a16:creationId xmlns:a16="http://schemas.microsoft.com/office/drawing/2014/main" id="{A497BCCA-62CF-5D55-386E-D0005A91FA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9339" y="1296784"/>
            <a:ext cx="8603672" cy="5336771"/>
          </a:xfrm>
        </p:spPr>
      </p:pic>
    </p:spTree>
    <p:extLst>
      <p:ext uri="{BB962C8B-B14F-4D97-AF65-F5344CB8AC3E}">
        <p14:creationId xmlns:p14="http://schemas.microsoft.com/office/powerpoint/2010/main" val="262091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B156-9838-AD94-87E3-966DF6317130}"/>
              </a:ext>
            </a:extLst>
          </p:cNvPr>
          <p:cNvSpPr>
            <a:spLocks noGrp="1"/>
          </p:cNvSpPr>
          <p:nvPr>
            <p:ph type="title"/>
          </p:nvPr>
        </p:nvSpPr>
        <p:spPr>
          <a:xfrm>
            <a:off x="838200" y="365125"/>
            <a:ext cx="10515600" cy="981761"/>
          </a:xfrm>
        </p:spPr>
        <p:txBody>
          <a:bodyPr>
            <a:normAutofit fontScale="90000"/>
          </a:bodyPr>
          <a:lstStyle/>
          <a:p>
            <a:r>
              <a:rPr lang="en-US" dirty="0"/>
              <a:t>GRAPHS SHOWING VARIOUS COMPUTATION METHODS</a:t>
            </a:r>
            <a:endParaRPr lang="en-UG" dirty="0"/>
          </a:p>
        </p:txBody>
      </p:sp>
      <p:pic>
        <p:nvPicPr>
          <p:cNvPr id="7" name="Content Placeholder 6">
            <a:extLst>
              <a:ext uri="{FF2B5EF4-FFF2-40B4-BE49-F238E27FC236}">
                <a16:creationId xmlns:a16="http://schemas.microsoft.com/office/drawing/2014/main" id="{E5DEFF9F-0D84-20D1-006C-19FDE783C8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6757" y="1690688"/>
            <a:ext cx="9037099" cy="4486275"/>
          </a:xfrm>
        </p:spPr>
      </p:pic>
    </p:spTree>
    <p:extLst>
      <p:ext uri="{BB962C8B-B14F-4D97-AF65-F5344CB8AC3E}">
        <p14:creationId xmlns:p14="http://schemas.microsoft.com/office/powerpoint/2010/main" val="1548364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BE039-8B2A-8145-89F4-1B2A4C11CA06}"/>
              </a:ext>
            </a:extLst>
          </p:cNvPr>
          <p:cNvSpPr>
            <a:spLocks noGrp="1"/>
          </p:cNvSpPr>
          <p:nvPr>
            <p:ph type="title"/>
          </p:nvPr>
        </p:nvSpPr>
        <p:spPr/>
        <p:txBody>
          <a:bodyPr/>
          <a:lstStyle/>
          <a:p>
            <a:r>
              <a:rPr lang="en-US" dirty="0"/>
              <a:t>conclusion</a:t>
            </a:r>
            <a:endParaRPr lang="en-UG" dirty="0"/>
          </a:p>
        </p:txBody>
      </p:sp>
      <p:sp>
        <p:nvSpPr>
          <p:cNvPr id="3" name="Content Placeholder 2">
            <a:extLst>
              <a:ext uri="{FF2B5EF4-FFF2-40B4-BE49-F238E27FC236}">
                <a16:creationId xmlns:a16="http://schemas.microsoft.com/office/drawing/2014/main" id="{4928ECD2-41B9-2D45-1C8E-F253FB089E91}"/>
              </a:ext>
            </a:extLst>
          </p:cNvPr>
          <p:cNvSpPr>
            <a:spLocks noGrp="1"/>
          </p:cNvSpPr>
          <p:nvPr>
            <p:ph idx="1"/>
          </p:nvPr>
        </p:nvSpPr>
        <p:spPr/>
        <p:txBody>
          <a:bodyPr>
            <a:normAutofit/>
          </a:bodyPr>
          <a:lstStyle/>
          <a:p>
            <a:r>
              <a:rPr lang="en-US" sz="2000" dirty="0"/>
              <a:t>While the secant method can be faster than other methods in certain scenarios, its important to note that its performance can depend on the choice of the initial guesses and the nature of the function being </a:t>
            </a:r>
            <a:r>
              <a:rPr lang="en-US" sz="2000" dirty="0" err="1"/>
              <a:t>analysed</a:t>
            </a:r>
            <a:r>
              <a:rPr lang="en-US" sz="2000" dirty="0"/>
              <a:t>. Each method has its strengths and weakness, making them suitable for different types of problems.</a:t>
            </a:r>
          </a:p>
          <a:p>
            <a:endParaRPr lang="en-UG" dirty="0"/>
          </a:p>
        </p:txBody>
      </p:sp>
    </p:spTree>
    <p:extLst>
      <p:ext uri="{BB962C8B-B14F-4D97-AF65-F5344CB8AC3E}">
        <p14:creationId xmlns:p14="http://schemas.microsoft.com/office/powerpoint/2010/main" val="293264835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107</TotalTime>
  <Words>295</Words>
  <Application>Microsoft Office PowerPoint</Application>
  <PresentationFormat>Widescreen</PresentationFormat>
  <Paragraphs>44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Garamond</vt:lpstr>
      <vt:lpstr>Symbol</vt:lpstr>
      <vt:lpstr>Times New Roman</vt:lpstr>
      <vt:lpstr>Organic</vt:lpstr>
      <vt:lpstr>MATLAB  GROUP 8</vt:lpstr>
      <vt:lpstr>ITERATION METHODS </vt:lpstr>
      <vt:lpstr>WHAT THE CODE DOES </vt:lpstr>
      <vt:lpstr>PowerPoint Presentation</vt:lpstr>
      <vt:lpstr>FLOW CHART</vt:lpstr>
      <vt:lpstr>Real-Life Example Problem:</vt:lpstr>
      <vt:lpstr>FLOW CHART OF NRM</vt:lpstr>
      <vt:lpstr>PowerPoint Presentation</vt:lpstr>
      <vt:lpstr>COMPARISON OF THE METHODS </vt:lpstr>
      <vt:lpstr>ODES</vt:lpstr>
      <vt:lpstr>PowerPoint Presentation</vt:lpstr>
      <vt:lpstr>FLOW CHART</vt:lpstr>
      <vt:lpstr>GRAPHS SHOWING VARIOUS COMPUTATION METHODS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Lwasampijja Ashiraf</dc:creator>
  <cp:lastModifiedBy>Lwasampijja Ashiraf</cp:lastModifiedBy>
  <cp:revision>5</cp:revision>
  <dcterms:created xsi:type="dcterms:W3CDTF">2025-09-30T09:11:41Z</dcterms:created>
  <dcterms:modified xsi:type="dcterms:W3CDTF">2025-09-30T14:53:52Z</dcterms:modified>
</cp:coreProperties>
</file>