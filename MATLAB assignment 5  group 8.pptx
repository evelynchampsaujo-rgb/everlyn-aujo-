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783"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binywera00@gmail.com" userId="94500846e7a854e5" providerId="LiveId" clId="{1EB3126D-D063-444E-8FB4-A65BECDC5994}"/>
    <pc:docChg chg="addSld modSld">
      <pc:chgData name="nicholasbinywera00@gmail.com" userId="94500846e7a854e5" providerId="LiveId" clId="{1EB3126D-D063-444E-8FB4-A65BECDC5994}" dt="2025-10-28T12:19:28.994" v="27"/>
      <pc:docMkLst>
        <pc:docMk/>
      </pc:docMkLst>
      <pc:sldChg chg="modSp new mod">
        <pc:chgData name="nicholasbinywera00@gmail.com" userId="94500846e7a854e5" providerId="LiveId" clId="{1EB3126D-D063-444E-8FB4-A65BECDC5994}" dt="2025-10-28T12:19:28.994" v="27"/>
        <pc:sldMkLst>
          <pc:docMk/>
          <pc:sldMk cId="813974629" sldId="256"/>
        </pc:sldMkLst>
        <pc:spChg chg="mod">
          <ac:chgData name="nicholasbinywera00@gmail.com" userId="94500846e7a854e5" providerId="LiveId" clId="{1EB3126D-D063-444E-8FB4-A65BECDC5994}" dt="2025-10-28T12:19:28.994" v="27"/>
          <ac:spMkLst>
            <pc:docMk/>
            <pc:sldMk cId="813974629" sldId="256"/>
            <ac:spMk id="2" creationId="{46662280-CCE6-BEF0-EEA3-D08A2EF001BE}"/>
          </ac:spMkLst>
        </pc:spChg>
        <pc:spChg chg="mod">
          <ac:chgData name="nicholasbinywera00@gmail.com" userId="94500846e7a854e5" providerId="LiveId" clId="{1EB3126D-D063-444E-8FB4-A65BECDC5994}" dt="2025-10-28T12:19:28.994" v="27"/>
          <ac:spMkLst>
            <pc:docMk/>
            <pc:sldMk cId="813974629" sldId="256"/>
            <ac:spMk id="3" creationId="{43DF4BBB-22E7-7797-8B41-347F4E6322B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265708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2376087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22278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4164674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628153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3952520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747375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3437580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1801693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326769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14009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1914746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2930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3289171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2127658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52264-AC4A-422F-82EE-9B19D3094488}" type="datetimeFigureOut">
              <a:rPr lang="en-US" smtClean="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081817-8C3C-4497-8E6A-65E3C8DF4C59}" type="slidenum">
              <a:rPr lang="en-US" smtClean="0"/>
              <a:t>‹#›</a:t>
            </a:fld>
            <a:endParaRPr lang="en-US" dirty="0"/>
          </a:p>
        </p:txBody>
      </p:sp>
    </p:spTree>
    <p:extLst>
      <p:ext uri="{BB962C8B-B14F-4D97-AF65-F5344CB8AC3E}">
        <p14:creationId xmlns:p14="http://schemas.microsoft.com/office/powerpoint/2010/main" val="271628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5C52264-AC4A-422F-82EE-9B19D3094488}" type="datetimeFigureOut">
              <a:rPr lang="en-US" smtClean="0"/>
              <a:t>10/28/2025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9081817-8C3C-4497-8E6A-65E3C8DF4C59}" type="slidenum">
              <a:rPr lang="en-US" smtClean="0"/>
              <a:t>‹#›</a:t>
            </a:fld>
            <a:endParaRPr lang="en-US" dirty="0"/>
          </a:p>
        </p:txBody>
      </p:sp>
    </p:spTree>
    <p:extLst>
      <p:ext uri="{BB962C8B-B14F-4D97-AF65-F5344CB8AC3E}">
        <p14:creationId xmlns:p14="http://schemas.microsoft.com/office/powerpoint/2010/main" val="147761355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62280-CCE6-BEF0-EEA3-D08A2EF001BE}"/>
              </a:ext>
            </a:extLst>
          </p:cNvPr>
          <p:cNvSpPr>
            <a:spLocks noGrp="1"/>
          </p:cNvSpPr>
          <p:nvPr>
            <p:ph type="ctrTitle"/>
          </p:nvPr>
        </p:nvSpPr>
        <p:spPr/>
        <p:txBody>
          <a:bodyPr/>
          <a:lstStyle/>
          <a:p>
            <a:r>
              <a:rPr lang="en-US" dirty="0"/>
              <a:t>MATLAB ASSIGNMENT 5</a:t>
            </a:r>
          </a:p>
        </p:txBody>
      </p:sp>
      <p:sp>
        <p:nvSpPr>
          <p:cNvPr id="3" name="Subtitle 2">
            <a:extLst>
              <a:ext uri="{FF2B5EF4-FFF2-40B4-BE49-F238E27FC236}">
                <a16:creationId xmlns:a16="http://schemas.microsoft.com/office/drawing/2014/main" id="{43DF4BBB-22E7-7797-8B41-347F4E6322B3}"/>
              </a:ext>
            </a:extLst>
          </p:cNvPr>
          <p:cNvSpPr>
            <a:spLocks noGrp="1"/>
          </p:cNvSpPr>
          <p:nvPr>
            <p:ph type="subTitle" idx="1"/>
          </p:nvPr>
        </p:nvSpPr>
        <p:spPr/>
        <p:txBody>
          <a:bodyPr/>
          <a:lstStyle/>
          <a:p>
            <a:r>
              <a:rPr lang="en-US" dirty="0"/>
              <a:t>GROUP 8</a:t>
            </a:r>
          </a:p>
        </p:txBody>
      </p:sp>
    </p:spTree>
    <p:extLst>
      <p:ext uri="{BB962C8B-B14F-4D97-AF65-F5344CB8AC3E}">
        <p14:creationId xmlns:p14="http://schemas.microsoft.com/office/powerpoint/2010/main" val="813974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7FA8A-23AF-72EF-8BBE-0ED0F955358E}"/>
              </a:ext>
            </a:extLst>
          </p:cNvPr>
          <p:cNvSpPr>
            <a:spLocks noGrp="1"/>
          </p:cNvSpPr>
          <p:nvPr>
            <p:ph type="title"/>
          </p:nvPr>
        </p:nvSpPr>
        <p:spPr/>
        <p:txBody>
          <a:bodyPr/>
          <a:lstStyle/>
          <a:p>
            <a:r>
              <a:rPr lang="en-US" dirty="0"/>
              <a:t>MATLAB </a:t>
            </a:r>
            <a:r>
              <a:rPr lang="en-US" sz="4800" dirty="0"/>
              <a:t>ASSIGNMENT QUESTION</a:t>
            </a:r>
            <a:endParaRPr lang="en-US" dirty="0"/>
          </a:p>
        </p:txBody>
      </p:sp>
      <p:sp>
        <p:nvSpPr>
          <p:cNvPr id="3" name="Content Placeholder 2">
            <a:extLst>
              <a:ext uri="{FF2B5EF4-FFF2-40B4-BE49-F238E27FC236}">
                <a16:creationId xmlns:a16="http://schemas.microsoft.com/office/drawing/2014/main" id="{3F53152B-0F17-11A7-7E27-1BF36F469B52}"/>
              </a:ext>
            </a:extLst>
          </p:cNvPr>
          <p:cNvSpPr>
            <a:spLocks noGrp="1"/>
          </p:cNvSpPr>
          <p:nvPr>
            <p:ph idx="1"/>
          </p:nvPr>
        </p:nvSpPr>
        <p:spPr/>
        <p:txBody>
          <a:bodyPr/>
          <a:lstStyle/>
          <a:p>
            <a:r>
              <a:rPr lang="en-US" dirty="0"/>
              <a:t>On implementing the concept of class, encapsulation, inheritance, polymorphism and abstraction. Develop and paste a high end (level) back-end implementation of the numerical methods application for solving computational problems for simplicity and applying the code developed in the previous assignment and ensure that the apparent class holds all abstract methods with two sub classes, one for differential problems and the other for integral problems.</a:t>
            </a:r>
          </a:p>
          <a:p>
            <a:endParaRPr lang="en-US" dirty="0"/>
          </a:p>
          <a:p>
            <a:endParaRPr lang="en-US" dirty="0"/>
          </a:p>
        </p:txBody>
      </p:sp>
    </p:spTree>
    <p:extLst>
      <p:ext uri="{BB962C8B-B14F-4D97-AF65-F5344CB8AC3E}">
        <p14:creationId xmlns:p14="http://schemas.microsoft.com/office/powerpoint/2010/main" val="193425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918C8-70B6-23A9-1810-95B0A3E3A4AA}"/>
              </a:ext>
            </a:extLst>
          </p:cNvPr>
          <p:cNvSpPr>
            <a:spLocks noGrp="1"/>
          </p:cNvSpPr>
          <p:nvPr>
            <p:ph type="title"/>
          </p:nvPr>
        </p:nvSpPr>
        <p:spPr>
          <a:xfrm>
            <a:off x="1676400" y="365125"/>
            <a:ext cx="9677400" cy="374015"/>
          </a:xfrm>
        </p:spPr>
        <p:txBody>
          <a:bodyPr>
            <a:normAutofit fontScale="90000"/>
          </a:bodyPr>
          <a:lstStyle/>
          <a:p>
            <a:r>
              <a:rPr lang="en-US" dirty="0"/>
              <a:t>Step by step implementation</a:t>
            </a:r>
          </a:p>
        </p:txBody>
      </p:sp>
      <p:sp>
        <p:nvSpPr>
          <p:cNvPr id="3" name="Content Placeholder 2">
            <a:extLst>
              <a:ext uri="{FF2B5EF4-FFF2-40B4-BE49-F238E27FC236}">
                <a16:creationId xmlns:a16="http://schemas.microsoft.com/office/drawing/2014/main" id="{D8996EB9-9446-7EBF-4385-58A4713E3DCA}"/>
              </a:ext>
            </a:extLst>
          </p:cNvPr>
          <p:cNvSpPr>
            <a:spLocks noGrp="1"/>
          </p:cNvSpPr>
          <p:nvPr>
            <p:ph idx="1"/>
          </p:nvPr>
        </p:nvSpPr>
        <p:spPr>
          <a:xfrm>
            <a:off x="640080" y="982980"/>
            <a:ext cx="10713720" cy="5193983"/>
          </a:xfrm>
        </p:spPr>
        <p:txBody>
          <a:bodyPr>
            <a:normAutofit fontScale="32500" lnSpcReduction="20000"/>
          </a:bodyPr>
          <a:lstStyle/>
          <a:p>
            <a:r>
              <a:rPr lang="en-US" sz="7000" dirty="0"/>
              <a:t>This approach implements and defines the abstract interface for all numerical problems while as </a:t>
            </a:r>
            <a:r>
              <a:rPr lang="en-UG" sz="7000" dirty="0"/>
              <a:t>It holds the core properties and the abstract solve method that every subclass must implement.</a:t>
            </a:r>
            <a:endParaRPr lang="en-US" sz="7000" dirty="0"/>
          </a:p>
          <a:p>
            <a:pPr marL="0" indent="0">
              <a:buNone/>
            </a:pPr>
            <a:r>
              <a:rPr lang="en-US" sz="7000" dirty="0"/>
              <a:t>   The MATLAB code is given by:</a:t>
            </a:r>
          </a:p>
          <a:p>
            <a:pPr>
              <a:lnSpc>
                <a:spcPct val="115000"/>
              </a:lnSpc>
              <a:spcAft>
                <a:spcPts val="800"/>
              </a:spcAft>
              <a:buNone/>
            </a:pPr>
            <a:r>
              <a:rPr lang="en-US" sz="5000" dirty="0"/>
              <a:t>      </a:t>
            </a:r>
            <a:r>
              <a:rPr lang="en-UG" sz="5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classdef </a:t>
            </a: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(Abstract) NumericalProblem &lt; handle</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5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NUMERICALPROBLEM Abstract base class for numerical methods.</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5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properties </a:t>
            </a: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(Access = protected)</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5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Encapsulated properties for the problem definition</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func;   </a:t>
            </a:r>
            <a:r>
              <a:rPr lang="en-UG" sz="5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Function handle to the mathematical function</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params; </a:t>
            </a:r>
            <a:r>
              <a:rPr lang="en-UG" sz="5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Optional parameters for the function</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5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5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50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8694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57B23-2DE5-0A9B-888F-21FBBE3486F8}"/>
              </a:ext>
            </a:extLst>
          </p:cNvPr>
          <p:cNvSpPr txBox="1"/>
          <p:nvPr/>
        </p:nvSpPr>
        <p:spPr>
          <a:xfrm>
            <a:off x="617220" y="281940"/>
            <a:ext cx="11109960" cy="6290761"/>
          </a:xfrm>
          <a:prstGeom prst="rect">
            <a:avLst/>
          </a:prstGeom>
          <a:noFill/>
        </p:spPr>
        <p:txBody>
          <a:bodyPr wrap="square">
            <a:spAutoFit/>
          </a:bodyPr>
          <a:lstStyle/>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obj = NumericalProblem(func, params)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Constructor to initialize the function and parameters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obj.func = func;</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obj.params = params;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 </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(Abstract)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Abstract method for solving the problem. Subclasses must implement this.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result = solve(obj);</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dirty="0"/>
          </a:p>
        </p:txBody>
      </p:sp>
    </p:spTree>
    <p:extLst>
      <p:ext uri="{BB962C8B-B14F-4D97-AF65-F5344CB8AC3E}">
        <p14:creationId xmlns:p14="http://schemas.microsoft.com/office/powerpoint/2010/main" val="482646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B7CB95-6ED4-957D-AC6F-B250DCBBF8AE}"/>
              </a:ext>
            </a:extLst>
          </p:cNvPr>
          <p:cNvSpPr txBox="1"/>
          <p:nvPr/>
        </p:nvSpPr>
        <p:spPr>
          <a:xfrm>
            <a:off x="396240" y="137160"/>
            <a:ext cx="11650980" cy="7271862"/>
          </a:xfrm>
          <a:prstGeom prst="rect">
            <a:avLst/>
          </a:prstGeom>
          <a:noFill/>
        </p:spPr>
        <p:txBody>
          <a:bodyPr wrap="square">
            <a:spAutoFit/>
          </a:bodyPr>
          <a:lstStyle/>
          <a:p>
            <a:pPr>
              <a:lnSpc>
                <a:spcPct val="115000"/>
              </a:lnSpc>
              <a:spcAft>
                <a:spcPts val="800"/>
              </a:spcAft>
              <a:buNone/>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(Abstract)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Abstract method for solving the problem. Subclasses must implement this.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result = solve(obj);</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(Access = protected)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Encapsulated helper method to validate the function handle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validateFunction(obj)</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if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~isa(obj.func,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'function_handle'</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error(</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'The function provided must be a function handle.'</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dirty="0"/>
          </a:p>
        </p:txBody>
      </p:sp>
    </p:spTree>
    <p:extLst>
      <p:ext uri="{BB962C8B-B14F-4D97-AF65-F5344CB8AC3E}">
        <p14:creationId xmlns:p14="http://schemas.microsoft.com/office/powerpoint/2010/main" val="4286860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D7C6-A221-170C-332C-3EEF19094D48}"/>
              </a:ext>
            </a:extLst>
          </p:cNvPr>
          <p:cNvSpPr>
            <a:spLocks noGrp="1"/>
          </p:cNvSpPr>
          <p:nvPr>
            <p:ph type="title"/>
          </p:nvPr>
        </p:nvSpPr>
        <p:spPr>
          <a:xfrm>
            <a:off x="1249680" y="182881"/>
            <a:ext cx="10104120" cy="998220"/>
          </a:xfrm>
        </p:spPr>
        <p:txBody>
          <a:bodyPr>
            <a:normAutofit fontScale="90000"/>
          </a:bodyPr>
          <a:lstStyle/>
          <a:p>
            <a:r>
              <a:rPr lang="en-US" sz="3200" dirty="0"/>
              <a:t>DEFINING A DIFFERENTIAL SUBCLASS (differential solver)</a:t>
            </a:r>
          </a:p>
        </p:txBody>
      </p:sp>
      <p:sp>
        <p:nvSpPr>
          <p:cNvPr id="3" name="Content Placeholder 2">
            <a:extLst>
              <a:ext uri="{FF2B5EF4-FFF2-40B4-BE49-F238E27FC236}">
                <a16:creationId xmlns:a16="http://schemas.microsoft.com/office/drawing/2014/main" id="{4951247D-2691-B450-8EC1-35CF79D5EA39}"/>
              </a:ext>
            </a:extLst>
          </p:cNvPr>
          <p:cNvSpPr>
            <a:spLocks noGrp="1"/>
          </p:cNvSpPr>
          <p:nvPr>
            <p:ph idx="1"/>
          </p:nvPr>
        </p:nvSpPr>
        <p:spPr>
          <a:xfrm>
            <a:off x="838200" y="1181101"/>
            <a:ext cx="10515600" cy="4995862"/>
          </a:xfrm>
        </p:spPr>
        <p:txBody>
          <a:bodyPr>
            <a:normAutofit fontScale="25000" lnSpcReduction="20000"/>
          </a:bodyPr>
          <a:lstStyle/>
          <a:p>
            <a:pPr>
              <a:lnSpc>
                <a:spcPct val="115000"/>
              </a:lnSpc>
              <a:spcBef>
                <a:spcPts val="800"/>
              </a:spcBef>
              <a:spcAft>
                <a:spcPts val="400"/>
              </a:spcAft>
              <a:buNone/>
            </a:pPr>
            <a:r>
              <a:rPr lang="en-UG" sz="8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matlab code</a:t>
            </a:r>
            <a:endParaRPr lang="en-US" sz="8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buNone/>
            </a:pP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classdef </a:t>
            </a: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DifferentialSolver &lt; NumericalProblem</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DIFFERENTIALSOLVER Solves ordinary differential equations using Euler's method.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properties </a:t>
            </a: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(Access = private)</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Private properties specific to differential problems</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tspan;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[t_start, t_end]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y0;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Initial condition</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h;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Step size</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57670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0F355B-2E96-CF3C-5D93-44BCBED1E128}"/>
              </a:ext>
            </a:extLst>
          </p:cNvPr>
          <p:cNvSpPr txBox="1"/>
          <p:nvPr/>
        </p:nvSpPr>
        <p:spPr>
          <a:xfrm>
            <a:off x="419100" y="387110"/>
            <a:ext cx="10828020" cy="5904822"/>
          </a:xfrm>
          <a:prstGeom prst="rect">
            <a:avLst/>
          </a:prstGeom>
          <a:noFill/>
        </p:spPr>
        <p:txBody>
          <a:bodyPr wrap="square">
            <a:spAutoFit/>
          </a:bodyPr>
          <a:lstStyle/>
          <a:p>
            <a:pPr>
              <a:lnSpc>
                <a:spcPct val="115000"/>
              </a:lnSpc>
              <a:spcAft>
                <a:spcPts val="800"/>
              </a:spcAft>
              <a:buNone/>
            </a:pP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obj = DifferentialSolver(func, tspan, y0, h)</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Constructor for a differential problem</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obj = obj@NumericalProblem(func, []);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Call superclass constructor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obj.tspan = tspan;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obj.y0 = y0;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obj.h = h;</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obj.validateFunction();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Use inherited validation method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[t_out, y_out] = solve(obj)</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Implement the Euler's method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t_start = obj.tspan(1);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23460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6ED33F-0A85-B871-AEFD-A57DF07C2C32}"/>
              </a:ext>
            </a:extLst>
          </p:cNvPr>
          <p:cNvSpPr txBox="1"/>
          <p:nvPr/>
        </p:nvSpPr>
        <p:spPr>
          <a:xfrm>
            <a:off x="480060" y="213360"/>
            <a:ext cx="11711940" cy="6783652"/>
          </a:xfrm>
          <a:prstGeom prst="rect">
            <a:avLst/>
          </a:prstGeom>
          <a:noFill/>
        </p:spPr>
        <p:txBody>
          <a:bodyPr wrap="square">
            <a:spAutoFit/>
          </a:bodyPr>
          <a:lstStyle/>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t_end = obj.tspan(2);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t_out = t_start:obj.h:t_end;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n_steps = length(t_out);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y_out = zeros(size(t_out));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y_out(1) = obj.y0;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for </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i = 1:(n_steps - 1)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y_out(i+1) = y_out(i) + obj.h * obj.func(t_out(i), y_out(i));</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Plot the result (optional for visual testing)</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figure;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plot(t_out, y_out,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'-o'</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title(</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'Solution of ODE using Euler''s Method'</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dirty="0"/>
          </a:p>
        </p:txBody>
      </p:sp>
    </p:spTree>
    <p:extLst>
      <p:ext uri="{BB962C8B-B14F-4D97-AF65-F5344CB8AC3E}">
        <p14:creationId xmlns:p14="http://schemas.microsoft.com/office/powerpoint/2010/main" val="1142302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DE2BF6-7ADF-2483-5874-8A6FABEC3276}"/>
              </a:ext>
            </a:extLst>
          </p:cNvPr>
          <p:cNvSpPr txBox="1"/>
          <p:nvPr/>
        </p:nvSpPr>
        <p:spPr>
          <a:xfrm>
            <a:off x="952500" y="1104900"/>
            <a:ext cx="8191500" cy="2602507"/>
          </a:xfrm>
          <a:prstGeom prst="rect">
            <a:avLst/>
          </a:prstGeom>
          <a:noFill/>
        </p:spPr>
        <p:txBody>
          <a:bodyPr wrap="square">
            <a:spAutoFit/>
          </a:bodyPr>
          <a:lstStyle/>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xlabel(</a:t>
            </a:r>
            <a:r>
              <a:rPr lang="en-UG" sz="24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ylabel(</a:t>
            </a:r>
            <a:r>
              <a:rPr lang="en-UG" sz="24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'y'</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48251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2C414-FDBB-FAC9-CD4D-F7ADE773EB2E}"/>
              </a:ext>
            </a:extLst>
          </p:cNvPr>
          <p:cNvSpPr>
            <a:spLocks noGrp="1"/>
          </p:cNvSpPr>
          <p:nvPr>
            <p:ph type="title"/>
          </p:nvPr>
        </p:nvSpPr>
        <p:spPr>
          <a:xfrm>
            <a:off x="838200" y="220981"/>
            <a:ext cx="10515600" cy="830580"/>
          </a:xfrm>
        </p:spPr>
        <p:txBody>
          <a:bodyPr>
            <a:normAutofit/>
          </a:bodyPr>
          <a:lstStyle/>
          <a:p>
            <a:r>
              <a:rPr lang="en-US" b="1" dirty="0"/>
              <a:t>DEFINING INTEGRAL CLASS. (Integral solver.m)</a:t>
            </a:r>
          </a:p>
        </p:txBody>
      </p:sp>
      <p:sp>
        <p:nvSpPr>
          <p:cNvPr id="3" name="Content Placeholder 2">
            <a:extLst>
              <a:ext uri="{FF2B5EF4-FFF2-40B4-BE49-F238E27FC236}">
                <a16:creationId xmlns:a16="http://schemas.microsoft.com/office/drawing/2014/main" id="{744BE7CF-F83B-20E6-0174-B9562A8F9BBA}"/>
              </a:ext>
            </a:extLst>
          </p:cNvPr>
          <p:cNvSpPr>
            <a:spLocks noGrp="1"/>
          </p:cNvSpPr>
          <p:nvPr>
            <p:ph idx="1"/>
          </p:nvPr>
        </p:nvSpPr>
        <p:spPr>
          <a:xfrm>
            <a:off x="533400" y="1051562"/>
            <a:ext cx="10820400" cy="5125402"/>
          </a:xfrm>
        </p:spPr>
        <p:txBody>
          <a:bodyPr>
            <a:normAutofit fontScale="25000" lnSpcReduction="20000"/>
          </a:bodyPr>
          <a:lstStyle/>
          <a:p>
            <a:pPr>
              <a:lnSpc>
                <a:spcPct val="115000"/>
              </a:lnSpc>
              <a:spcBef>
                <a:spcPts val="800"/>
              </a:spcBef>
              <a:spcAft>
                <a:spcPts val="400"/>
              </a:spcAft>
              <a:buNone/>
            </a:pPr>
            <a:r>
              <a:rPr lang="en-UG" sz="8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matlab code</a:t>
            </a:r>
            <a:endParaRPr lang="en-US" sz="8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ts val="1800"/>
              </a:lnSpc>
              <a:spcAft>
                <a:spcPts val="800"/>
              </a:spcAft>
              <a:buNone/>
            </a:pPr>
            <a:r>
              <a:rPr lang="en-UG" sz="8000" kern="0" dirty="0">
                <a:solidFill>
                  <a:srgbClr val="E6E8F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classdef </a:t>
            </a: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IntegralSolver &lt; NumericalProblem</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INTEGRALSOLVER Solves definite integrals using the trapezoidal rule.</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properties </a:t>
            </a: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(Access = private)</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Private properties specific to integral problems</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Lower bound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b;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Upper bound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n; </a:t>
            </a:r>
            <a:r>
              <a:rPr lang="en-UG" sz="8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Number of intervals</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8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80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8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7580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B63B9E-DEC4-DAB1-0F57-74DBC2C1BE58}"/>
              </a:ext>
            </a:extLst>
          </p:cNvPr>
          <p:cNvSpPr txBox="1"/>
          <p:nvPr/>
        </p:nvSpPr>
        <p:spPr>
          <a:xfrm>
            <a:off x="541020" y="809405"/>
            <a:ext cx="10949940" cy="5763437"/>
          </a:xfrm>
          <a:prstGeom prst="rect">
            <a:avLst/>
          </a:prstGeom>
          <a:noFill/>
        </p:spPr>
        <p:txBody>
          <a:bodyPr wrap="square">
            <a:spAutoFit/>
          </a:bodyPr>
          <a:lstStyle/>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methods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obj = IntegralSolver(func, a, b, n)</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Constructor for an integral problem</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 = obj@NumericalProblem(func, []);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Call superclass constructor</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obj.a = a;</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obj.b = b;</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obj.n = n;</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obj.validateFunction();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Use inherited validation method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function </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integral_result = solve(obj)</a:t>
            </a:r>
            <a:endParaRPr lang="en-US" sz="2400" dirty="0"/>
          </a:p>
        </p:txBody>
      </p:sp>
    </p:spTree>
    <p:extLst>
      <p:ext uri="{BB962C8B-B14F-4D97-AF65-F5344CB8AC3E}">
        <p14:creationId xmlns:p14="http://schemas.microsoft.com/office/powerpoint/2010/main" val="657792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766DED-B91A-2ABE-01C1-C407559CB116}"/>
              </a:ext>
            </a:extLst>
          </p:cNvPr>
          <p:cNvSpPr txBox="1"/>
          <p:nvPr/>
        </p:nvSpPr>
        <p:spPr>
          <a:xfrm>
            <a:off x="441960" y="388264"/>
            <a:ext cx="10736580" cy="6818085"/>
          </a:xfrm>
          <a:prstGeom prst="rect">
            <a:avLst/>
          </a:prstGeom>
          <a:noFill/>
        </p:spPr>
        <p:txBody>
          <a:bodyPr wrap="square">
            <a:spAutoFit/>
          </a:bodyPr>
          <a:lstStyle/>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Implement the trapezoidal rule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h = (obj.b - obj.a) / obj.n;</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x = obj.a:h:obj.b;</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y = obj.func(x);</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integral_result = h * (0.5 * y(1) + sum(y(2:end-1)) + 0.5 * y(end));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Display the result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fprintf(</a:t>
            </a:r>
            <a:r>
              <a:rPr lang="en-UG" sz="24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'Integral from %f to %f is: %f\n'</a:t>
            </a: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obj.a, obj.b, integral_result);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solidFill>
                  <a:srgbClr val="0E00FF"/>
                </a:solidFill>
                <a:effectLst/>
                <a:latin typeface="Times New Roman" panose="02020603050405020304" pitchFamily="18" charset="0"/>
                <a:ea typeface="Times New Roman" panose="02020603050405020304" pitchFamily="18" charset="0"/>
                <a:cs typeface="Times New Roman" panose="02020603050405020304" pitchFamily="18" charset="0"/>
              </a:rPr>
              <a:t>end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p>
        </p:txBody>
      </p:sp>
    </p:spTree>
    <p:extLst>
      <p:ext uri="{BB962C8B-B14F-4D97-AF65-F5344CB8AC3E}">
        <p14:creationId xmlns:p14="http://schemas.microsoft.com/office/powerpoint/2010/main" val="2580113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32DF1-CA98-D861-61F8-E0FD30CA023D}"/>
              </a:ext>
            </a:extLst>
          </p:cNvPr>
          <p:cNvSpPr>
            <a:spLocks noGrp="1"/>
          </p:cNvSpPr>
          <p:nvPr>
            <p:ph type="title"/>
          </p:nvPr>
        </p:nvSpPr>
        <p:spPr>
          <a:xfrm>
            <a:off x="190500" y="167641"/>
            <a:ext cx="11529060" cy="792479"/>
          </a:xfrm>
        </p:spPr>
        <p:txBody>
          <a:bodyPr>
            <a:noAutofit/>
          </a:bodyPr>
          <a:lstStyle/>
          <a:p>
            <a:pPr algn="ctr"/>
            <a:r>
              <a:rPr lang="en-US" sz="2800" b="1" dirty="0"/>
              <a:t>TESTING THE IMPLEMENTATION ( creating a separate script eg test numerical app.mat </a:t>
            </a:r>
          </a:p>
        </p:txBody>
      </p:sp>
      <p:sp>
        <p:nvSpPr>
          <p:cNvPr id="4" name="TextBox 3">
            <a:extLst>
              <a:ext uri="{FF2B5EF4-FFF2-40B4-BE49-F238E27FC236}">
                <a16:creationId xmlns:a16="http://schemas.microsoft.com/office/drawing/2014/main" id="{8ACF4F58-0F57-33DC-5259-F42D06C14779}"/>
              </a:ext>
            </a:extLst>
          </p:cNvPr>
          <p:cNvSpPr txBox="1"/>
          <p:nvPr/>
        </p:nvSpPr>
        <p:spPr>
          <a:xfrm>
            <a:off x="556260" y="1104900"/>
            <a:ext cx="11033760" cy="5867825"/>
          </a:xfrm>
          <a:prstGeom prst="rect">
            <a:avLst/>
          </a:prstGeom>
          <a:noFill/>
        </p:spPr>
        <p:txBody>
          <a:bodyPr wrap="square">
            <a:spAutoFit/>
          </a:bodyPr>
          <a:lstStyle/>
          <a:p>
            <a:pPr>
              <a:lnSpc>
                <a:spcPct val="115000"/>
              </a:lnSpc>
              <a:spcAft>
                <a:spcPts val="800"/>
              </a:spcAft>
              <a:buNone/>
            </a:pPr>
            <a:r>
              <a:rPr lang="en-UG" sz="18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test_numerical_app.m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 Test the DifferentialSolver subclass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fprintf(</a:t>
            </a:r>
            <a:r>
              <a:rPr lang="en-UG" sz="18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 Testing DifferentialSolver (Euler''s Method) ---\n'</a:t>
            </a: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Define the ODE: dy/dt = -2t*y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ode_func = @(t,y) -2*t.*y;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tspan_ode = [0, 2];</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y0_ode = 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h_ode = 0.1;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Create an object of the DifferentialSolver class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diff_problem = DifferentialSolver(ode_func, tspan_ode, y0_ode, h_ode);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0161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27C8F5-2CAD-0ACB-7F06-D68A6FCC4601}"/>
              </a:ext>
            </a:extLst>
          </p:cNvPr>
          <p:cNvSpPr txBox="1"/>
          <p:nvPr/>
        </p:nvSpPr>
        <p:spPr>
          <a:xfrm>
            <a:off x="205740" y="125243"/>
            <a:ext cx="12115800" cy="6817892"/>
          </a:xfrm>
          <a:prstGeom prst="rect">
            <a:avLst/>
          </a:prstGeom>
          <a:noFill/>
        </p:spPr>
        <p:txBody>
          <a:bodyPr wrap="square">
            <a:spAutoFit/>
          </a:bodyPr>
          <a:lstStyle/>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Solve the differential problem using the polymorphic 'solve' method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[t_sol, y_sol] = diff_problem.solve();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The analytical solution is y(t) = exp(-t^2)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y_exact = exp(-t_sol.^2);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Plot the numerical and analytical solutions for comparison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hold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on</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plot(t_sol, y_exact,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'r-'</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'LineWidth'</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legend(</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'Euler Method'</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'Exact Solution'</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hold </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off</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fprintf(</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'Differential problem solved. Plot generated.\n\n'</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 Test the IntegralSolver subclass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fprintf(</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 Testing IntegralSolver (Trapezoidal Rule) ---\n'</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31730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C5FEB5-CEC2-0E03-BDCC-44041D7412CE}"/>
              </a:ext>
            </a:extLst>
          </p:cNvPr>
          <p:cNvSpPr txBox="1"/>
          <p:nvPr/>
        </p:nvSpPr>
        <p:spPr>
          <a:xfrm>
            <a:off x="289560" y="236220"/>
            <a:ext cx="11071860" cy="6361357"/>
          </a:xfrm>
          <a:prstGeom prst="rect">
            <a:avLst/>
          </a:prstGeom>
          <a:noFill/>
        </p:spPr>
        <p:txBody>
          <a:bodyPr wrap="square">
            <a:spAutoFit/>
          </a:bodyPr>
          <a:lstStyle/>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Define the function to integrate: f(x) = x^2 from 0 to 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integral_func = @(x) x.^2;</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a_int = 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b_int = 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n_intervals = 100;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Create an object of the IntegralSolver class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int_problem = IntegralSolver(integral_func, a_int, b_int, n_intervals);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Solve the integral problem using the polymorphic 'solve' method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integral_result = int_problem.solve();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solidFill>
                  <a:srgbClr val="008013"/>
                </a:solidFill>
                <a:effectLst/>
                <a:latin typeface="Times New Roman" panose="02020603050405020304" pitchFamily="18" charset="0"/>
                <a:ea typeface="Times New Roman" panose="02020603050405020304" pitchFamily="18" charset="0"/>
                <a:cs typeface="Times New Roman" panose="02020603050405020304" pitchFamily="18" charset="0"/>
              </a:rPr>
              <a:t>% The analytical solution is 1/3</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fprintf(</a:t>
            </a:r>
            <a:r>
              <a:rPr lang="en-UG" sz="2000" kern="0" dirty="0">
                <a:solidFill>
                  <a:srgbClr val="A709F5"/>
                </a:solidFill>
                <a:effectLst/>
                <a:latin typeface="Times New Roman" panose="02020603050405020304" pitchFamily="18" charset="0"/>
                <a:ea typeface="Times New Roman" panose="02020603050405020304" pitchFamily="18" charset="0"/>
                <a:cs typeface="Times New Roman" panose="02020603050405020304" pitchFamily="18" charset="0"/>
              </a:rPr>
              <a:t>'Expected integral result is 0.333333...\n'</a:t>
            </a:r>
            <a:r>
              <a:rPr lang="en-UG"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98173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FE684-D90A-3B33-0C3C-558E67FD6CAF}"/>
              </a:ext>
            </a:extLst>
          </p:cNvPr>
          <p:cNvSpPr>
            <a:spLocks noGrp="1"/>
          </p:cNvSpPr>
          <p:nvPr>
            <p:ph type="title"/>
          </p:nvPr>
        </p:nvSpPr>
        <p:spPr/>
        <p:txBody>
          <a:bodyPr/>
          <a:lstStyle/>
          <a:p>
            <a:r>
              <a:rPr lang="en-US" dirty="0"/>
              <a:t>The graph</a:t>
            </a:r>
          </a:p>
        </p:txBody>
      </p:sp>
      <p:pic>
        <p:nvPicPr>
          <p:cNvPr id="4" name="Content Placeholder 3">
            <a:extLst>
              <a:ext uri="{FF2B5EF4-FFF2-40B4-BE49-F238E27FC236}">
                <a16:creationId xmlns:a16="http://schemas.microsoft.com/office/drawing/2014/main" id="{4BDBB8FF-F186-0DB4-6D9F-6DFD35D24725}"/>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596" b="5692"/>
          <a:stretch/>
        </p:blipFill>
        <p:spPr bwMode="auto">
          <a:xfrm>
            <a:off x="457200" y="1577340"/>
            <a:ext cx="10896600" cy="47091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5877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16B9-439D-9899-3095-546772AEB720}"/>
              </a:ext>
            </a:extLst>
          </p:cNvPr>
          <p:cNvSpPr>
            <a:spLocks noGrp="1"/>
          </p:cNvSpPr>
          <p:nvPr>
            <p:ph type="title"/>
          </p:nvPr>
        </p:nvSpPr>
        <p:spPr/>
        <p:txBody>
          <a:bodyPr>
            <a:normAutofit/>
          </a:bodyPr>
          <a:lstStyle/>
          <a:p>
            <a:r>
              <a:rPr lang="en-US" sz="4000" dirty="0"/>
              <a:t>CONCLUSSION</a:t>
            </a:r>
          </a:p>
        </p:txBody>
      </p:sp>
      <p:sp>
        <p:nvSpPr>
          <p:cNvPr id="3" name="Content Placeholder 2">
            <a:extLst>
              <a:ext uri="{FF2B5EF4-FFF2-40B4-BE49-F238E27FC236}">
                <a16:creationId xmlns:a16="http://schemas.microsoft.com/office/drawing/2014/main" id="{2119932D-B3EE-4EA5-0317-3B8F5E2BF067}"/>
              </a:ext>
            </a:extLst>
          </p:cNvPr>
          <p:cNvSpPr>
            <a:spLocks noGrp="1"/>
          </p:cNvSpPr>
          <p:nvPr>
            <p:ph idx="1"/>
          </p:nvPr>
        </p:nvSpPr>
        <p:spPr/>
        <p:txBody>
          <a:bodyPr/>
          <a:lstStyle/>
          <a:p>
            <a:r>
              <a:rPr lang="en-UG" dirty="0"/>
              <a:t>The command window will display the integral result, and a figure window will pop up showing the Euler's method approximation alongside the exact solution for the differential equation, demonstrating the encapsulation, inheritance, and polymorphic behaviour of the classes.</a:t>
            </a:r>
            <a:endParaRPr lang="en-US" dirty="0"/>
          </a:p>
          <a:p>
            <a:pPr marL="0" indent="0">
              <a:buNone/>
            </a:pPr>
            <a:endParaRPr lang="en-US" dirty="0"/>
          </a:p>
        </p:txBody>
      </p:sp>
    </p:spTree>
    <p:extLst>
      <p:ext uri="{BB962C8B-B14F-4D97-AF65-F5344CB8AC3E}">
        <p14:creationId xmlns:p14="http://schemas.microsoft.com/office/powerpoint/2010/main" val="12301505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67</TotalTime>
  <Words>1355</Words>
  <Application>Microsoft Office PowerPoint</Application>
  <PresentationFormat>Widescreen</PresentationFormat>
  <Paragraphs>169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Times New Roman</vt:lpstr>
      <vt:lpstr>Trebuchet MS</vt:lpstr>
      <vt:lpstr>Wingdings 3</vt:lpstr>
      <vt:lpstr>Facet</vt:lpstr>
      <vt:lpstr>MATLAB ASSIGNMENT 5</vt:lpstr>
      <vt:lpstr>MATLAB ASSIGNMENT QUESTION</vt:lpstr>
      <vt:lpstr>Step by step implementation</vt:lpstr>
      <vt:lpstr>PowerPoint Presentation</vt:lpstr>
      <vt:lpstr>PowerPoint Presentation</vt:lpstr>
      <vt:lpstr>DEFINING A DIFFERENTIAL SUBCLASS (differential solver)</vt:lpstr>
      <vt:lpstr>PowerPoint Presentation</vt:lpstr>
      <vt:lpstr>PowerPoint Presentation</vt:lpstr>
      <vt:lpstr>PowerPoint Presentation</vt:lpstr>
      <vt:lpstr>DEFINING INTEGRAL CLASS. (Integral solver.m)</vt:lpstr>
      <vt:lpstr>PowerPoint Presentation</vt:lpstr>
      <vt:lpstr>PowerPoint Presentation</vt:lpstr>
      <vt:lpstr>TESTING THE IMPLEMENTATION ( creating a separate script eg test numerical app.mat </vt:lpstr>
      <vt:lpstr>PowerPoint Presentation</vt:lpstr>
      <vt:lpstr>PowerPoint Presentation</vt:lpstr>
      <vt:lpstr>The graph</vt:lpstr>
      <vt:lpstr>CONCLUSSION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nicholasbinywera00@gmail.com</dc:creator>
  <cp:lastModifiedBy>nicholasbinywera00@gmail.com</cp:lastModifiedBy>
  <cp:revision>5</cp:revision>
  <dcterms:created xsi:type="dcterms:W3CDTF">2025-10-28T12:17:55Z</dcterms:created>
  <dcterms:modified xsi:type="dcterms:W3CDTF">2025-10-28T19:44:30Z</dcterms:modified>
</cp:coreProperties>
</file>