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9" r:id="rId3"/>
    <p:sldId id="277" r:id="rId4"/>
    <p:sldId id="287" r:id="rId5"/>
    <p:sldId id="280" r:id="rId6"/>
    <p:sldId id="281" r:id="rId7"/>
    <p:sldId id="282" r:id="rId8"/>
    <p:sldId id="283" r:id="rId9"/>
    <p:sldId id="284" r:id="rId10"/>
    <p:sldId id="265" r:id="rId11"/>
    <p:sldId id="289" r:id="rId12"/>
    <p:sldId id="285" r:id="rId13"/>
    <p:sldId id="286" r:id="rId14"/>
    <p:sldId id="288" r:id="rId15"/>
    <p:sldId id="263" r:id="rId16"/>
    <p:sldId id="264" r:id="rId17"/>
    <p:sldId id="274" r:id="rId18"/>
    <p:sldId id="275" r:id="rId19"/>
    <p:sldId id="276" r:id="rId20"/>
    <p:sldId id="260" r:id="rId21"/>
    <p:sldId id="271" r:id="rId22"/>
    <p:sldId id="272" r:id="rId23"/>
    <p:sldId id="273" r:id="rId24"/>
    <p:sldId id="26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27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8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9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31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5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5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8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31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1321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57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0529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823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87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76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69F63-FCDC-443F-BED3-AB1EF516BD2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0A4575-4748-497B-AB95-CBBF5AB6D3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8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33B8-23FD-5B46-5710-7A786C109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MATLAB ASSIGNMENT GROUP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49E07-7E7A-5200-08CB-A0BB65FD1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4</a:t>
            </a:r>
          </a:p>
        </p:txBody>
      </p:sp>
    </p:spTree>
    <p:extLst>
      <p:ext uri="{BB962C8B-B14F-4D97-AF65-F5344CB8AC3E}">
        <p14:creationId xmlns:p14="http://schemas.microsoft.com/office/powerpoint/2010/main" val="175021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01A9-4F14-7780-4B9F-75382F3C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1 and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2BC9-BAE7-88EC-EA82-DC022FD1F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assignment of numerical methods, make equivalent code based on recursive programming</a:t>
            </a:r>
          </a:p>
          <a:p>
            <a:r>
              <a:rPr lang="en-US" dirty="0"/>
              <a:t>Use the concepts of recursive and dynamic programming to solve the different following problems and make drafts to compare there computation time?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The knapsack problem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Fibonacci functions    </a:t>
            </a:r>
          </a:p>
        </p:txBody>
      </p:sp>
    </p:spTree>
    <p:extLst>
      <p:ext uri="{BB962C8B-B14F-4D97-AF65-F5344CB8AC3E}">
        <p14:creationId xmlns:p14="http://schemas.microsoft.com/office/powerpoint/2010/main" val="290407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2D14-3C37-AC0E-9D05-363C8D0F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" y="365125"/>
            <a:ext cx="11590020" cy="1325563"/>
          </a:xfrm>
        </p:spPr>
        <p:txBody>
          <a:bodyPr/>
          <a:lstStyle/>
          <a:p>
            <a:r>
              <a:rPr lang="en-US" dirty="0"/>
              <a:t> Numerical methods considered for recursive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400A6-460B-A007-0176-7EC033D3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Secant method</a:t>
            </a:r>
          </a:p>
          <a:p>
            <a:r>
              <a:rPr lang="en-US" dirty="0"/>
              <a:t>Newton Raphson method</a:t>
            </a:r>
          </a:p>
          <a:p>
            <a:r>
              <a:rPr lang="en-US" dirty="0"/>
              <a:t>Euler method</a:t>
            </a:r>
          </a:p>
          <a:p>
            <a:r>
              <a:rPr lang="en-US" dirty="0"/>
              <a:t>Huen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31C7-12BF-5656-283C-06008B0B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365125"/>
            <a:ext cx="10736580" cy="1325563"/>
          </a:xfrm>
        </p:spPr>
        <p:txBody>
          <a:bodyPr/>
          <a:lstStyle/>
          <a:p>
            <a:r>
              <a:rPr lang="en-US" dirty="0"/>
              <a:t>Functions considered under recursive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5801-7FE7-A61D-1B04-809D12FD5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Fibonacci functions</a:t>
            </a:r>
          </a:p>
          <a:p>
            <a:r>
              <a:rPr lang="en-US" dirty="0"/>
              <a:t>Knapsack functions</a:t>
            </a:r>
          </a:p>
          <a:p>
            <a:r>
              <a:rPr lang="en-US" dirty="0"/>
              <a:t>Computational times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5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1975-3100-2F20-6068-41A95981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365125"/>
            <a:ext cx="10523220" cy="1036955"/>
          </a:xfrm>
        </p:spPr>
        <p:txBody>
          <a:bodyPr>
            <a:normAutofit/>
          </a:bodyPr>
          <a:lstStyle/>
          <a:p>
            <a:r>
              <a:rPr lang="en-US" dirty="0"/>
              <a:t>MATLAB code based on recursive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8B289-8EA5-BC64-8AFC-E802A6C79A4A}"/>
              </a:ext>
            </a:extLst>
          </p:cNvPr>
          <p:cNvSpPr txBox="1"/>
          <p:nvPr/>
        </p:nvSpPr>
        <p:spPr>
          <a:xfrm>
            <a:off x="670560" y="1556596"/>
            <a:ext cx="10020300" cy="29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recursive_numerical_methods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- Recursive root-finders: bisection, false-position, Newton-Raphson, secant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- Knapsack: naive recursive and memoized DP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- Fibonacci: naive recursive, memoized recursive, iterative DP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- Time comparisons and plots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0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1C2F-F8EF-ECD2-0B31-FB37C038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40" y="365125"/>
            <a:ext cx="9509760" cy="1097915"/>
          </a:xfrm>
        </p:spPr>
        <p:txBody>
          <a:bodyPr/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2EC27-6F9D-6ADD-9531-817D66C7B4E6}"/>
              </a:ext>
            </a:extLst>
          </p:cNvPr>
          <p:cNvSpPr txBox="1"/>
          <p:nvPr/>
        </p:nvSpPr>
        <p:spPr>
          <a:xfrm>
            <a:off x="495300" y="1584960"/>
            <a:ext cx="10568940" cy="5026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clear; close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clc;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 world problem : projectile motion root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v0 = 20; g = 9.81;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= @(t) v0.*t - 0.5.*g.*t.^2;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@(t) v0 - g.*t;     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derivative for Newton-Raphson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t_exact = 2*v0/g;       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analytical impact time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Root-search interval and tolerances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0; b = 5;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 = 1e-8;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maxRecDepth = 1000;     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recursion safety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2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E096-FE43-125B-73D4-85A6468D6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980" y="365125"/>
            <a:ext cx="9608820" cy="1143635"/>
          </a:xfrm>
        </p:spPr>
        <p:txBody>
          <a:bodyPr/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E5F51-9852-79DC-A50A-C214473E168D}"/>
              </a:ext>
            </a:extLst>
          </p:cNvPr>
          <p:cNvSpPr txBox="1"/>
          <p:nvPr/>
        </p:nvSpPr>
        <p:spPr>
          <a:xfrm>
            <a:off x="678180" y="1242059"/>
            <a:ext cx="10546080" cy="5561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Recursive root finders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Wrapper functions that measure time and call recursive implementations.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1) Recursive Bisection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 [root_bis, iter_bis] = recursive_bisection(f, a, b, tol, 0, maxRecDepth); time_bis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2) Recursive False Position (Regula-Falsi)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 [root_false, iter_false] = recursive_false_position(f, a, b, tol, 0, maxRecDepth); time_false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3) Recursive Newton-Raphson (recursion on iterations)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x0_nr = 2; tic; [root_newton, iter_newton] = recursive_newton(f, df, x0_nr, tol, 0, maxRecDepth); time_newton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29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E250-CEB3-24AF-4465-9C0B3BEE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0" y="365125"/>
            <a:ext cx="10119360" cy="915035"/>
          </a:xfrm>
        </p:spPr>
        <p:txBody>
          <a:bodyPr/>
          <a:lstStyle/>
          <a:p>
            <a:r>
              <a:rPr lang="en-US" dirty="0"/>
              <a:t>Matlab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796E1-A0A9-DB45-DE6F-6624AA4CE622}"/>
              </a:ext>
            </a:extLst>
          </p:cNvPr>
          <p:cNvSpPr txBox="1"/>
          <p:nvPr/>
        </p:nvSpPr>
        <p:spPr>
          <a:xfrm>
            <a:off x="205740" y="1165860"/>
            <a:ext cx="11887200" cy="60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4) Recursive Secant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x0_s = 0.1; x1_s = 4.5; tic; [root_secant, iter_secant] = recursive_secant(f, x0_s, x1_s, tol, 0, maxRecDepth); time_secant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'Root-finding results (exact t = %.8f):\n'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t_exact);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'Bisection: root=%.10f, iter=%d, time=%.5e\n'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root_bis, iter_bis, time_bis);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'FalsePos: root=%.10f, iter=%d, time=%.5e\n'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root_false, iter_false, time_false);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'Newton:   root=%.10f, iter=%d, time=%.5e\n'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root_newton, iter_newton, time_newton);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'Secant:   root=%.10f, iter=%d, time=%.5e\n\n'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root_secant, iter_secant, time_secant);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Plot root-finder computation times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 = 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'Bisection'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'False Position'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'Newton-Raphson'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'Secant'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times = [time_bis, time_false, time_newton, time_secant];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558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AE8D-26DB-599E-B009-AC711213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65125"/>
            <a:ext cx="10104120" cy="922655"/>
          </a:xfrm>
        </p:spPr>
        <p:txBody>
          <a:bodyPr/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81162-9F0D-331E-95A8-2EFA3CC444A1}"/>
              </a:ext>
            </a:extLst>
          </p:cNvPr>
          <p:cNvSpPr txBox="1"/>
          <p:nvPr/>
        </p:nvSpPr>
        <p:spPr>
          <a:xfrm>
            <a:off x="381000" y="1363980"/>
            <a:ext cx="11521440" cy="534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'Root-finder times'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bar(categorical(methods), times);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'Computation times (recursive implementations)'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Recursive ODE solvers (single-step recursion)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Solve dy/dt = -2*y with y(0)=1 on [0,2] for comparison with analytic solution y = exp(-2t)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ode_f = @(t,y) -2*y;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t0 = 0; tf = 2; N = 200; h = (tf - t0)/N;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t_vec = t0:h:tf;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y_exact = exp(-2.*t_vec);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5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661D-758F-2FE6-077B-7D41394E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420" y="365125"/>
            <a:ext cx="10279380" cy="854075"/>
          </a:xfrm>
        </p:spPr>
        <p:txBody>
          <a:bodyPr/>
          <a:lstStyle/>
          <a:p>
            <a:pPr algn="ctr"/>
            <a:r>
              <a:rPr lang="en-US" dirty="0"/>
              <a:t>Computational times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18A34-FDB3-B1D9-5F5C-B51ADE48B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" y="1429677"/>
            <a:ext cx="9517380" cy="477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C012-F95B-F9A3-98C5-2582A991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747395"/>
          </a:xfrm>
        </p:spPr>
        <p:txBody>
          <a:bodyPr/>
          <a:lstStyle/>
          <a:p>
            <a:r>
              <a:rPr lang="en-US" dirty="0"/>
              <a:t>Recursive ODE methods Vs analytical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F7A2F-E816-02E9-D65C-DB224415C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" y="1429677"/>
            <a:ext cx="9052560" cy="506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34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03B7-B990-6A75-D8C4-93B2C04F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5125"/>
            <a:ext cx="9372600" cy="465455"/>
          </a:xfrm>
        </p:spPr>
        <p:txBody>
          <a:bodyPr>
            <a:normAutofit fontScale="90000"/>
          </a:bodyPr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B680C-D223-E963-4374-B2A15E16109F}"/>
              </a:ext>
            </a:extLst>
          </p:cNvPr>
          <p:cNvSpPr txBox="1"/>
          <p:nvPr/>
        </p:nvSpPr>
        <p:spPr>
          <a:xfrm>
            <a:off x="594360" y="1066800"/>
            <a:ext cx="11384280" cy="618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Euler (recursive)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 y_euler = zeros(size(t_vec)); y_euler(1) = 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y_euler = recursive_euler_step(ode_f, t_vec, y_euler, 1, h); time_euler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Heun (recursive)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 y_heun = zeros(size(t_vec)); y_heun(1) = 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y_heun = recursive_heun_step(ode_f, t_vec, y_heun, 1, h); time_heun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RK4 (recursive)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 y_rk4 = zeros(size(t_vec)); y_rk4(1) = 1;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y_rk4 = recursive_rk4_step(ode_f, t_vec, y_rk4, 1, h); time_rk4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 solver timings:\nEuler: %.5e, Heun: %.5e, RK4: %.5e\n\n'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time_euler, time_heun, time_rk4);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72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CDA3-6333-80ED-06D4-DAB2DA5F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98121"/>
            <a:ext cx="9182100" cy="510540"/>
          </a:xfrm>
        </p:spPr>
        <p:txBody>
          <a:bodyPr>
            <a:normAutofit fontScale="90000"/>
          </a:bodyPr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44268-15C2-E25C-AAB8-D0C624AB84E9}"/>
              </a:ext>
            </a:extLst>
          </p:cNvPr>
          <p:cNvSpPr txBox="1"/>
          <p:nvPr/>
        </p:nvSpPr>
        <p:spPr>
          <a:xfrm>
            <a:off x="571500" y="594360"/>
            <a:ext cx="11292840" cy="638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ODE results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 solvers vs exact'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plot(t_vec, y_exact,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'k-'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2); hold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plot(t_vec, y_euler,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'--r'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plot(t_vec, y_heun,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'--b'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plot(t_vec, y_rk4,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'--g'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'Exact'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'Recursive Euler'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'Recursive Heun'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'Recursive RK4'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'Location'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'northeast'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ylabel(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'y(t)'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title(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'Recursive ODE methods vs analytical'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Bar times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 times'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bar(categorical({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'Euler'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'Heun'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'RK4'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}), [time_euler,time_heun,time_rk4]);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title(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 recursive integrators time (N=200)'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grid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00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10A7-8522-F966-56A6-A7385BBB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273685"/>
            <a:ext cx="10629900" cy="884555"/>
          </a:xfrm>
        </p:spPr>
        <p:txBody>
          <a:bodyPr>
            <a:normAutofit/>
          </a:bodyPr>
          <a:lstStyle/>
          <a:p>
            <a:r>
              <a:rPr lang="en-US" dirty="0"/>
              <a:t>ODE recursive integrators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26C0CB-FBAF-CEBF-E481-8E748B2D3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85" y="1501140"/>
            <a:ext cx="10097095" cy="509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21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DBF9-FDE1-4E96-446C-5DBEFF6E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0" y="365125"/>
            <a:ext cx="8671560" cy="92075"/>
          </a:xfrm>
        </p:spPr>
        <p:txBody>
          <a:bodyPr>
            <a:normAutofit fontScale="90000"/>
          </a:bodyPr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09C7C-4D03-371C-07B6-38EEA80DD3A2}"/>
              </a:ext>
            </a:extLst>
          </p:cNvPr>
          <p:cNvSpPr txBox="1"/>
          <p:nvPr/>
        </p:nvSpPr>
        <p:spPr>
          <a:xfrm>
            <a:off x="655320" y="1089660"/>
            <a:ext cx="11056620" cy="612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Display times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disp(table(Ns', times_fib_naive', times_fib_memo', times_fib_iter', </a:t>
            </a:r>
            <a:r>
              <a:rPr lang="en-UG" sz="2000" kern="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'VariableNames'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'Time_Naive'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'Time_Memo'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'Time_Iter'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}));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G" sz="20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times (log scale for clarity)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figure(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'Fibonacci computation times'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semilogy(Ns, times_fib_naive,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'-o'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 hold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semilogy(Ns, times_fib_memo,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'-o'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semilogy(Ns, times_fib_iter,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'-o'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legend(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'Naive recursion'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'Memoized recursion'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'Iterative DP'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'Location'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'northwest'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ylabel(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 [log scale]'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title(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'Fibonacci: naive vs memo vs iterative DP'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grid </a:t>
            </a:r>
            <a:r>
              <a:rPr lang="en-UG" sz="20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20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26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2B77-5D26-E966-BB0A-E01AC027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2EB69-EF09-38FA-FDC0-707FE83E38BD}"/>
              </a:ext>
            </a:extLst>
          </p:cNvPr>
          <p:cNvSpPr txBox="1"/>
          <p:nvPr/>
        </p:nvSpPr>
        <p:spPr>
          <a:xfrm>
            <a:off x="838200" y="1759088"/>
            <a:ext cx="9319260" cy="333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Save figures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%to save figures to PNG files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saveas(figure(1),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'root_finder_times.png'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saveas(figure(2),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'ode_vs_exact.png'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saveas(figure(3),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saveas(figure(4),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'knapsack_times.png'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saveas(figure(5),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'fibonacci_times.png'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548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8F57-C586-B464-A546-69447CAE1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33705"/>
            <a:ext cx="10058400" cy="991235"/>
          </a:xfrm>
        </p:spPr>
        <p:txBody>
          <a:bodyPr/>
          <a:lstStyle/>
          <a:p>
            <a:r>
              <a:rPr lang="en-US" dirty="0"/>
              <a:t>Knapsack function 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3D046-715A-6695-97A4-BE28462042BB}"/>
              </a:ext>
            </a:extLst>
          </p:cNvPr>
          <p:cNvSpPr txBox="1"/>
          <p:nvPr/>
        </p:nvSpPr>
        <p:spPr>
          <a:xfrm>
            <a:off x="601980" y="1546859"/>
            <a:ext cx="10629900" cy="460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Knapsack: recursive vs memoized DP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Example knapsack instance (small-to-medium size for demonstration)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 = [60, 100, 120, 90, 50];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values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weights = [10, 20, 30, 40, 10];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weights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 = 50;                        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capacity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= length(values);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1) Naive recursive (note: exponential time) -- measure time for small n only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[bestVal_rec, ~] = knapsack_recursive(n, W, weights, values);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time_knap_rec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8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AB0C-1142-DEF1-92B5-923B7439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10134600" cy="915035"/>
          </a:xfrm>
        </p:spPr>
        <p:txBody>
          <a:bodyPr/>
          <a:lstStyle/>
          <a:p>
            <a:r>
              <a:rPr lang="en-US" dirty="0"/>
              <a:t>Knapsack function 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AD9A0-42BF-172E-9CF5-01C559E512D2}"/>
              </a:ext>
            </a:extLst>
          </p:cNvPr>
          <p:cNvSpPr txBox="1"/>
          <p:nvPr/>
        </p:nvSpPr>
        <p:spPr>
          <a:xfrm>
            <a:off x="525780" y="1744980"/>
            <a:ext cx="10507980" cy="418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2) Memoized DP (top-down)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 = -ones(n+1, W+1);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initialize with -1 meaning unknown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[bestVal_mem, memo_used] = knapsack_memo(n, W, weights, values, memo);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time_knap_memo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3) Bottom-up DP (iterative) for verification and faster time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bestVal_dp = knapsack_dp(weights, values, W);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time_knap_dp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64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9B83-4B0B-EBBF-5747-ADE95163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365125"/>
            <a:ext cx="10431780" cy="1082675"/>
          </a:xfrm>
        </p:spPr>
        <p:txBody>
          <a:bodyPr/>
          <a:lstStyle/>
          <a:p>
            <a:r>
              <a:rPr lang="en-US" dirty="0"/>
              <a:t>Knapsack function 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F92D6-7358-F113-7D8C-271BFAA2A314}"/>
              </a:ext>
            </a:extLst>
          </p:cNvPr>
          <p:cNvSpPr txBox="1"/>
          <p:nvPr/>
        </p:nvSpPr>
        <p:spPr>
          <a:xfrm>
            <a:off x="563880" y="1363980"/>
            <a:ext cx="10789920" cy="4502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'Knapsack results (W=%d, n=%d):\n'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W, n);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'Naive recursion: best=%.2f, time=%.5e\n'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bestVal_rec, time_knap_rec);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'Memoized DP:    best=%.2f, time=%.5e\n'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bestVal_mem, time_knap_memo);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'Bottom-up DP:   best=%.2f, time=%.5e\n\n'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bestVal_dp, time_knap_dp);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knapsack times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'Knapsack computation times'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bar(categorical({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'Recursive'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'Memoized'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'Bottom-up DP'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}), [time_knap_rec, time_knap_memo, time_knap_dp]);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title(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'Knapsack methods timing'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grid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5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932EF-0339-3542-475E-5EA4C4D7F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1481"/>
            <a:ext cx="10812780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96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0C8F-1761-B4C6-707F-9588BBD3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860" y="365125"/>
            <a:ext cx="10187940" cy="678815"/>
          </a:xfrm>
        </p:spPr>
        <p:txBody>
          <a:bodyPr>
            <a:normAutofit/>
          </a:bodyPr>
          <a:lstStyle/>
          <a:p>
            <a:r>
              <a:rPr lang="en-US" dirty="0"/>
              <a:t>Fibonnacci function matlab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E195C-3F6E-1DAF-DC80-E8693D700B63}"/>
              </a:ext>
            </a:extLst>
          </p:cNvPr>
          <p:cNvSpPr txBox="1"/>
          <p:nvPr/>
        </p:nvSpPr>
        <p:spPr>
          <a:xfrm>
            <a:off x="213360" y="-99060"/>
            <a:ext cx="12070080" cy="671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0" dirty="0">
              <a:solidFill>
                <a:srgbClr val="00801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kern="0" dirty="0">
              <a:solidFill>
                <a:srgbClr val="008013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0" dirty="0">
              <a:solidFill>
                <a:srgbClr val="008013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 Fibonacci: naive vs memo vs iterative DP (timing &amp; scaling)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We'll measure for a range of n to show scaling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 = [5, 10, 15, 20, 25, 30];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naive recursion becomes slow quickly (avoid &gt;30)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times_fib_naive = zeros(size(Ns));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times_fib_memo = zeros(size(Ns));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times_fib_iter = zeros(size(Ns));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idx = 1:length(Ns)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 = Ns(idx);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naive recursion (may be slow for m&gt;30)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tic; fn = fibonacci_recursive(m); times_fib_naive(idx)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memoized recursive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tic; fm = fibonacci_memo(m); times_fib_memo(idx)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183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EEE5-AD18-6194-4FD7-C1D904E6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65125"/>
            <a:ext cx="10393680" cy="975995"/>
          </a:xfrm>
        </p:spPr>
        <p:txBody>
          <a:bodyPr/>
          <a:lstStyle/>
          <a:p>
            <a:r>
              <a:rPr lang="en-US" dirty="0"/>
              <a:t>Fibonnacci function 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A0947-6D94-1E11-57B4-031DA6ABABF1}"/>
              </a:ext>
            </a:extLst>
          </p:cNvPr>
          <p:cNvSpPr txBox="1"/>
          <p:nvPr/>
        </p:nvSpPr>
        <p:spPr>
          <a:xfrm>
            <a:off x="91440" y="1341120"/>
            <a:ext cx="12024360" cy="5866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iterative DP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tic; fi = fibonacci_iter(m); times_fib_iter(idx) = toc;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Display times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disp(table(Ns', times_fib_naive', times_fib_memo', times_fib_iter', </a:t>
            </a:r>
            <a:r>
              <a:rPr lang="en-UG" sz="1800" kern="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'VariableNames'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'Time_Naive'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'Time_Memo'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'Time_Iter'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Plot times (log scale for clarity)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'Name'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'Fibonacci computation times'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'NumberTitle'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'off'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semilogy(Ns, times_fib_naive,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'-o'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 hold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semilogy(Ns, times_fib_memo,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'-o'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semilogy(Ns, times_fib_iter,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'-o'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'LineWidth'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1.5);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060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58C6-93B0-FF1F-5B49-51293830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Fibonnacci function matlab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E19AB-1607-EB69-1A93-FDC5C8567F76}"/>
              </a:ext>
            </a:extLst>
          </p:cNvPr>
          <p:cNvSpPr txBox="1"/>
          <p:nvPr/>
        </p:nvSpPr>
        <p:spPr>
          <a:xfrm>
            <a:off x="739140" y="1568375"/>
            <a:ext cx="10126980" cy="4821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'Naive recursion'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'Memoized recursion'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'Iterative DP'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'Location'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'northwest'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'n'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ylabel(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'Time (s) [log scale]'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title(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'Fibonacci: naive vs memo vs iterative DP'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 grid 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 Save figures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G" sz="1800" kern="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%to save figures to PNG files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saveas(figure(1),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'root_finder_times.png'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saveas(figure(2),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'ode_vs_exact.png'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saveas(figure(3),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'ode_times.png'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saveas(figure(4),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'knapsack_times.png'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saveas(figure(5),</a:t>
            </a:r>
            <a:r>
              <a:rPr lang="en-UG" sz="1800" kern="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'fibonacci_times.png'</a:t>
            </a:r>
            <a:r>
              <a:rPr lang="en-UG" sz="18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671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C6A1B-CB37-D08B-A4FB-AB4AA269E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25780"/>
            <a:ext cx="9806940" cy="546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902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</TotalTime>
  <Words>2240</Words>
  <Application>Microsoft Office PowerPoint</Application>
  <PresentationFormat>Widescreen</PresentationFormat>
  <Paragraphs>208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Consolas</vt:lpstr>
      <vt:lpstr>Times New Roman</vt:lpstr>
      <vt:lpstr>Trebuchet MS</vt:lpstr>
      <vt:lpstr>Wingdings</vt:lpstr>
      <vt:lpstr>Wingdings 3</vt:lpstr>
      <vt:lpstr>Facet</vt:lpstr>
      <vt:lpstr>MATLAB ASSIGNMENT GROUP 8</vt:lpstr>
      <vt:lpstr>Questions 1 and 2</vt:lpstr>
      <vt:lpstr> Numerical methods considered for recursive programming</vt:lpstr>
      <vt:lpstr>Functions considered under recursive programming</vt:lpstr>
      <vt:lpstr>MATLAB code based on recursive programming</vt:lpstr>
      <vt:lpstr>Matlab code</vt:lpstr>
      <vt:lpstr>Matlab code</vt:lpstr>
      <vt:lpstr>Matlab code</vt:lpstr>
      <vt:lpstr>Matlab code</vt:lpstr>
      <vt:lpstr>Computational times chart</vt:lpstr>
      <vt:lpstr>Recursive ODE methods Vs analytical</vt:lpstr>
      <vt:lpstr>Matlab code</vt:lpstr>
      <vt:lpstr>Matlab code</vt:lpstr>
      <vt:lpstr>ODE recursive integrators chart</vt:lpstr>
      <vt:lpstr>Matlab code</vt:lpstr>
      <vt:lpstr>Matlab code</vt:lpstr>
      <vt:lpstr>Knapsack function matlab code</vt:lpstr>
      <vt:lpstr>Knapsack function matlab code</vt:lpstr>
      <vt:lpstr>Knapsack function matlab code</vt:lpstr>
      <vt:lpstr>PowerPoint Presentation</vt:lpstr>
      <vt:lpstr>Fibonnacci function matlab code</vt:lpstr>
      <vt:lpstr>Fibonnacci function matlab code</vt:lpstr>
      <vt:lpstr>Fibonnacci function matlab 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nicholasbinywera00@gmail.com</dc:creator>
  <cp:lastModifiedBy>nicholasbinywera00@gmail.com</cp:lastModifiedBy>
  <cp:revision>1</cp:revision>
  <dcterms:created xsi:type="dcterms:W3CDTF">2025-10-21T10:43:18Z</dcterms:created>
  <dcterms:modified xsi:type="dcterms:W3CDTF">2025-10-21T13:49:17Z</dcterms:modified>
</cp:coreProperties>
</file>